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6" r:id="rId3"/>
    <p:sldId id="256" r:id="rId4"/>
    <p:sldId id="257" r:id="rId5"/>
    <p:sldId id="258" r:id="rId6"/>
    <p:sldId id="259" r:id="rId7"/>
    <p:sldId id="260" r:id="rId8"/>
    <p:sldId id="261" r:id="rId9"/>
    <p:sldId id="262" r:id="rId10"/>
    <p:sldId id="263" r:id="rId11"/>
    <p:sldId id="264" r:id="rId12"/>
    <p:sldId id="265" r:id="rId13"/>
  </p:sldIdLst>
  <p:sldSz cx="6972300" cy="3930650"/>
  <p:notesSz cx="6972300" cy="39306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34" d="100"/>
          <a:sy n="134" d="100"/>
        </p:scale>
        <p:origin x="898" y="86"/>
      </p:cViewPr>
      <p:guideLst>
        <p:guide orient="horz" pos="2880"/>
        <p:guide pos="21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9T14:15:0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1 281,'911'0,"-901"0,0-2,0 1,0-1,0-1,13-4,-12 2,1 2,0 0,16-2,-11 2,0 0,0-1,0-1,26-12,-28 11,1 0,-1 1,1 0,0 2,26-4,-20 5,0-2,0 0,31-11,-29 7,2 2,28-4,218-5,-256 14,0 0,0-1,-1-1,1 0,17-7,77-33,-58 21,-33 15,0 0,0 1,0 1,1 1,-1 1,1 1,0 0,0 1,0 2,36 4,-44-3</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9T14:15:0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7 1,'-3'0,"0"0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9T14:15:0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534 3,'-6'0,"12"2,26 3,48 3,92-8,-229 0,1 3,-100 17,69-4,45-10,1 2,0 2,0 1,-63 28,93-29,19-5,29-3,-32-2,113 1,0-5,-1-6,0-4,146-38,-233 44,49-13,102-15,-159 33,-46 3,-3 1,-331-2,-196 4,479-1,-126 21,198-23,0 1,0-1,0 1,0 0,0 0,1 0,-1 0,0 1,1-1,-1 1,-1 2,3-4,1 0,0 0,0 0,0 1,-1-1,1 0,0 0,0 1,0-1,0 0,0 1,0-1,0 0,0 1,0-1,0 0,0 0,0 1,0-1,0 0,0 1,0-1,0 0,0 0,0 1,0-1,0 0,0 1,1-1,-1 0,0 0,0 1,0-1,1 0,19 10,256 52,-162-40,-17-4,1-4,0-4,106-4,-198-6,-1 0,1 0,0 0,0-1,-1 0,1-1,0 1,-1-1,1 0,-1 0,0-1,8-4,-13 7,0 0,0 0,1 0,-1 0,0 0,0-1,0 1,0 0,1 0,-1 0,0 0,0 0,0-1,0 1,0 0,0 0,1 0,-1-1,0 1,0 0,0 0,0 0,0-1,0 1,0 0,0 0,0-1,0 1,0 0,0 0,0 0,0-1,0 1,0 0,-1 0,1 0,0-1,0 1,0 0,0 0,0 0,0-1,0 1,-1 0,1 0,0 0,0 0,0 0,0 0,-1-1,1 1,0 0,0 0,0 0,-1 0,1 0,0 0,0 0,-1 0,1 0,0 0,0 0,0 0,-1 0,1 0,-18-3,17 3,-300-3,165 5,6-3,-125 3,248-1,7 1,13 4,23 3,138 7,-33-5,135 8,-725-20,399 1</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9T14:15:1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66,'10'1,"0"0,0 1,0 0,0 1,0 0,-1 1,17 8,30 11,0-7,137 35,-149-42,1-2,65 3,484-11,-505-3,-1-4,0-4,-1-4,159-50,-203 54,85-14,-149 27,0-1,1-1,-1-1,1-1,-1 0,-31-11,22 6,-2 1,-38-3,-186 8,-56-5,262 2,-1 1,-90 7,133-1,1 0,0 1,-1-1,1 1,0 1,0-1,1 1,-8 6,-19 9,21-13</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3-09-29T14:15:1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227 145,'35'1,"-1"1,1 1,41 10,-60-9,-1-1,1-1,0 0,-1-1,1-1,0-1,0 0,0-1,-1 0,19-6,-6 2,-23 6,0 0,-1-1,1 0,0 0,-1 0,1 0,-1-1,1 0,-1 0,0 0,0 0,0-1,6-3,-10 5,1 0,-1 1,0-1,1 0,-1 0,1 1,-1-1,0 0,0 0,1 0,-1 1,0-1,0 0,0 0,0 0,0 0,0 1,0-1,0 0,0 0,-1 0,1 0,0 1,0-1,-1 0,1 0,-1 0,-1-1,1 0,-1 0,0 0,0 0,0 1,0-1,0 1,0-1,-4-1,-6-2,-1 0,-22-6,30 10,-32-8,-59-4,59 9,-58-14,53 9,0 2,0 2,-1 2,-69 4,73 0,18-1</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4:15:29"/>
    </inkml:context>
    <inkml:brush xml:id="br0">
      <inkml:brushProperty name="width" value="0.05" units="cm"/>
      <inkml:brushProperty name="height" value="0.05" units="cm"/>
      <inkml:brushProperty name="color" value="#ffffff"/>
    </inkml:brush>
  </inkml:definitions>
  <inkml:trace contextRef="#ctx0" brushRef="#br0">68 17 24575,'499'0'0,"-837"0"0,698 0 0,-640-9 0,-28 1 0,372 21 0,161-8-214,-168-6-937,-38 1-5675</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4:15:41"/>
    </inkml:context>
    <inkml:brush xml:id="br0">
      <inkml:brushProperty name="width" value="0.35" units="cm"/>
      <inkml:brushProperty name="height" value="0.35" units="cm"/>
      <inkml:brushProperty name="color" value="#ffffff"/>
    </inkml:brush>
  </inkml:definitions>
  <inkml:trace contextRef="#ctx0" brushRef="#br0">1606 417 24575,'0'3'0,"0"-1"0,-1 0 0,1 1 0,-1-1 0,0 0 0,0 0 0,0 1 0,0-1 0,0 0 0,0 0 0,-1 0 0,1 0 0,-1 0 0,1-1 0,-1 1 0,0 0 0,0-1 0,-3 3 0,2-1 0,-2 0 0,1-1 0,0 1 0,0-1 0,-1 0 0,1 0 0,-1-1 0,-6 2 0,-263 38 36,-83 17-223,-547 158-569,904-215 760,0-1 0,0 0-1,0 0 1,0 0 0,0 0 0,0 0 0,0 0 0,0 0-1,0 0 1,0 1 0,0-1 0,0 0 0,0 0 0,1 0-1,-1 0 1,0 0 0,0 0 0,0 0 0,0 1 0,0-1-1,0 0 1,0 0 0,0 0 0,0 0 0,0 0 0,0 0-1,-1 1 1,1-1 0,0 0 0,0 0 0,0 0 0,0 0-1,0 0 1,30 2 289,46-3 186,-71 1-474,32-3-5,-1-2 0,0-2 0,0-1 0,67-25 0,8-1 0,-92 29 0,217-62 0,-176 47 0,107-52 0,-143 61 0,0 1 0,0 2 0,1 1 0,50-9 0,-39 9 0,-18 3 0,-1 0 0,1-2 0,-1 0 0,31-16 0,-41 18 0,0 0 0,0-1 0,0 0 0,0 0 0,-1 0 0,0-1 0,0 0 0,-1 0 0,0 0 0,0-1 0,0 1 0,-1-1 0,4-8 0,-6 12 0,-1 1 0,1-1 0,0 1 0,0-1 0,0 1 0,0-1 0,0 1 0,0 0 0,1 0 0,-1 0 0,1 1 0,-1-1 0,1 0 0,0 1 0,0 0 0,0 0 0,-1 0 0,1 0 0,0 0 0,0 0 0,1 1 0,3-1 0,10 0 0,0 0 0,0 1 0,17 2 0,-4 0 0,-18-1 0,-1-1 0,0 0 0,0-1 0,0 0 0,1 0 0,-1-2 0,0 1 0,-1-1 0,22-9 0,-32 12 0,0-1 0,0 1 0,0 0 0,0 0 0,0 0 0,0 0 0,0 0 0,0 0 0,0 0 0,0 0 0,1 0 0,-1 0 0,0 0 0,0 0 0,0 0 0,0 0 0,0 0 0,0 0 0,0 0 0,0 0 0,0-1 0,0 1 0,0 0 0,0 0 0,0 0 0,0 0 0,0 0 0,0 0 0,0 0 0,0 0 0,0 0 0,0 0 0,0 0 0,0-1 0,0 1 0,0 0 0,0 0 0,0 0 0,0 0 0,0 0 0,0 0 0,0 0 0,0 0 0,0 0 0,0 0 0,0 0 0,0 0 0,0-1 0,0 1 0,0 0 0,0 0 0,-1 0 0,1 0 0,0 0 0,0 0 0,0 0 0,0 0 0,0 0 0,0 0 0,0 0 0,0 0 0,0 0 0,0 0 0,0 0 0,0 0 0,-1 0 0,1 0 0,0 0 0,-11-3 0,-13 1 0,-208 5 0,-52-2 0,245-4 0,0-2 0,-45-12 0,-30-4 0,108 20 0,0 0 0,0 0 0,0 0 0,0-1 0,0 1 0,0-1 0,1-1 0,-1 1 0,0-1 0,1 0 0,0 0 0,0-1 0,0 1 0,0-1 0,1-1 0,-1 1 0,1 0 0,0-1 0,0 0 0,1 0 0,-1 0 0,-2-6 0,4 8 0,0-1 0,-1 1 0,0 0 0,0 0 0,0 1 0,0-1 0,0 1 0,0-1 0,-1 1 0,1 0 0,-1 0 0,1 0 0,-1 1 0,0-1 0,0 1 0,1 0 0,-1 0 0,0 1 0,0-1 0,0 1 0,0-1 0,-1 1 0,1 1 0,0-1 0,-4 1 0,7-1 0,1 0 0,-1 0 0,0 0 0,1 0 0,-1 0 0,1 0 0,-1 0 0,1 0 0,-1 1 0,0-1 0,1 0 0,-1 0 0,1 0 0,-1 1 0,1-1 0,-1 0 0,1 1 0,-1-1 0,1 0 0,-1 1 0,1-1 0,0 1 0,-1-1 0,1 1 0,0-1 0,-1 1 0,1 0 0,8 12 0,32 11 0,-35-21 0,46 23 0,0-2 0,1-3 0,82 23 0,171 25 0,-253-59 0,72 11 0,0-6 0,212-1 0,-274-13 0,1 3 0,-1 2 0,67 17 0,-54-11 0,99 3 0,-215-14 0,0 2 0,0 2 0,0 2 0,-48 14 0,49-12 0,-78 10 0,6-1 0,-47 20 0,2 8 0,-184 78 0,285-97 0,42-19 0,1-1 0,-1-1 0,-1 0 0,1-1 0,-1-1 0,0 0 0,0-1 0,-17 2 0,-32-6 0,77 2 0,0 0 0,0 1 0,0 0 0,0 1 0,-1 1 0,14 5 0,20 6 0,15-1 0,2-3 0,116 7 0,132-16 0,-196-4 0,89 1 0,996 1 0,-1049 4 0,229-4 0,-362-2 0,-13 1 0,0 0 0,1 1 0,-1-1 0,0 1 0,1 0 0,-1 0 0,0 1 0,1 0 0,-1 0 0,0 0 0,0 0 0,0 1 0,9 4 0,-14-6 0,1 0 0,-1 0 0,0 0 0,0 0 0,1 1 0,-1-1 0,0 0 0,0 0 0,0 0 0,0 1 0,1-1 0,-1 0 0,0 0 0,0 1 0,0-1 0,0 0 0,0 0 0,0 1 0,0-1 0,0 0 0,0 0 0,0 1 0,0-1 0,0 0 0,0 0 0,0 1 0,0-1 0,0 0 0,0 0 0,0 1 0,0-1 0,0 0 0,0 0 0,0 1 0,0-1 0,0 0 0,-1 0 0,1 1 0,0-1 0,0 0 0,0 0 0,0 0 0,-1 1 0,1-1 0,0 0 0,0 0 0,0 0 0,-1 0 0,1 0 0,0 1 0,0-1 0,-1 0 0,1 0 0,0 0 0,0 0 0,-1 0 0,1 0 0,-1 0 0,-16 5 0,-23-1 0,-65-2 0,-18 1 0,-134 17 0,-362-17 0,540-9 0,1-4 0,1-3 0,0-3 0,1-4 0,1-3 0,-100-45 0,133 51 0,-2 2 0,-86-17 0,129 32 0,0 0 0,0-1 0,0 1 0,1 0 0,-1 0 0,0 0 0,0 0 0,0-1 0,0 1 0,0 0 0,1-1 0,-1 1 0,0-1 0,0 1 0,0-1 0,1 1 0,-1-1 0,0 1 0,1-1 0,-1 0 0,1 1 0,-1-1 0,0 0 0,1 0 0,0 0 0,-1 1 0,1-1 0,-1 0 0,1 0 0,0 0 0,0 0 0,-1 0 0,1 1 0,0-3 0,1 2 0,-1 0 0,1 0 0,-1 0 0,1-1 0,0 1 0,0 0 0,0 0 0,0 0 0,0 0 0,0 0 0,0 0 0,0 0 0,0 1 0,0-1 0,0 0 0,0 1 0,1-1 0,-1 0 0,0 1 0,0-1 0,1 1 0,-1 0 0,2-1 0,43-7 0,-28 6 0,-1-2 0,22-6 0,8-7 0,11-4 0,0 2 0,70-13 0,-109 29 0,0 1 0,-1 0 0,1 1 0,0 1 0,0 1 0,0 1 0,-1 0 0,1 2 0,-1 0 0,1 1 0,24 10 0,-23-7 0,0-1 0,0-2 0,1 1 0,0-2 0,38 2 0,108-6 0,-74-2 0,-78-1 0,-26-4 0,-26-4 0,-28 3 0,-1 3 0,-108 6 0,69 1 0,-264-2 0,512 5 0,175 30 0,95 3 0,-314-32 0,-8-2 0,1-5 0,-1-4 0,-1-3 0,154-35 0,-127 17 0,186-15 0,-413 42 0,-128-15 0,10 0 0,81 12 0,-309-23 0,404 18-34,-518-53-1682,-340 55 1719,578 8 1405,354-1-1341,-1 0 0,0 2 0,0 0 0,26 10 0,39 8-63,441 25-1044,5-46-398,-312-10 389,-1-9 0,389-85 1,371-152-1638,-973 253 2754,31-9 1072,1 2 1,51-7 642,-99 14-731,-32-1 1231,13 1-1440,-1-3-843,0-2 0,0 0 0,-30-13 0,-16-4 0,-31-1-176,-1 4-1,-202-11 0,-223 27-780,333 7 681,-691 33-687,795-28 1305,47-5 329,-88 16 1,96-4 27,39-13-673,-1 0 1,1 1-1,0-1 0,-1 0 1,1 1-1,0-1 0,-1 1 1,1 0-1,0 0 0,0 0 1,1 0-1,-3 3 0,4-4-26,0-1 0,1 1 0,-1 0 0,0-1 0,1 1 0,-1 0 0,1-1 0,-1 1 0,1-1 0,-1 1 0,1-1 0,-1 1 0,1-1 0,-1 1 0,1-1 0,0 0 0,-1 1 0,1-1 0,0 0 0,-1 1 0,1-1 0,0 0 0,0 0 0,-1 0 0,1 0 0,0 0 0,0 0 0,-1 0 0,2 0 0,2 1 0,70 13 0,0-4 0,110 2 0,5 0 0,57 17-196,179 16-244,575-48-1420,-970 2 1843,36-3 136,-61 4-55,-1-1 0,1 0 0,0 0-1,-1 0 1,1-1 0,-1 1 0,0-1 0,1 0 0,7-5 0,-12 7-46,0-1-1,1 1 1,-1 0 0,1 0 0,-1-1 0,0 1 0,1 0 0,-1-1 0,0 1-1,1 0 1,-1-1 0,0 1 0,0-1 0,1 1 0,-1 0 0,0-1 0,0 1-1,0-1 1,0 1 0,0-1 0,1 1 0,-1-1 0,0 1 0,0-1-1,0 1 1,0-1 0,0 1 0,0 0 0,-1-1 0,1 1 0,0-1 0,0 1-1,0-1 1,0 1 0,0-1 0,-1 1 0,1 0 0,0-1 0,0 1-1,-1-1 1,1 1 0,0 0 0,-1-1 0,1 1 0,0 0 0,-1-1 0,1 1-1,-1 0 1,1 0 0,0-1 0,-1 1 0,1 0 0,-1 0 0,1 0 0,-1-1-1,-28-7 738,-25 3-755,-1 2 0,-55 6 0,20-1 0,6 1-133,2 4 0,-110 23 0,-161 54-501,188-41 495,-714 125 101,847-164 38,15-3 0,-1 1 0,1 0 0,0 2 0,0 0 0,-28 11 0,44-15-1,0 0 0,0 0-1,0 1 1,1-1 0,-1 0 0,0 1-1,0-1 1,0 1 0,1-1-1,-1 1 1,0 0 0,1-1-1,-1 1 1,0 0 0,1-1-1,-1 1 1,1 0 0,-1-1 0,1 1-1,0 0 1,-1 0 0,0 1-1,2-1 8,-1 0-1,0-1 1,0 1 0,1 0-1,-1-1 1,0 1-1,1 0 1,-1-1-1,0 1 1,1-1-1,-1 1 1,1 0 0,-1-1-1,1 1 1,0-1-1,-1 1 1,1-1-1,-1 0 1,1 1 0,1 0-1,42 14 765,162 28-429,-49-12-329,732 107-2982,-46-102 482,4-72-163,-438 14 1617,444-10-316,694-42-957,-1095 28 2033,722-167-1,-1096 196 803,58-18 1730,-124 27-1204,-19 1-193,-22-2 173,-196-23 2675,43 8-1520,41 4-1287,-177-2 0,-144 23-2299,281 1 1207,-1 2-867,1 8 0,-291 56 1,-276 106-1893,-310 40 105,-6-63 2069,923-135 1043,-308 17 3672,484-34 302,31 4-2586,49 16-1152,-50-7-295,0-3 0,100 2 0,-78-16-516,127-22 0,85-34-881,-135 25 640,1024-228-3553,-146 32 338,-454 109 3558,-567 118 549,-12 4-55,0-1 1,0 0-1,0 0 1,0-1-1,0 0 1,-1-1-1,1 0 1,16-17 1470,-26 20-1719,-10-4 994,-19 1 350,-315 3 1303,157 4-1838,127-3-870,-843 19-2296,-995 124-3582,1233-80 3886,-250 21-621,2-56 4961,892-29-1957,-7 1 1428,43 5-1020,450 94 5132,-296-76-5846,1-8 1,214-7-1,-33-28-2110,387-74 0,334-134 272,-598 99 1351,-63 15-340,-405 113 761,31-9 751,1 1 1,0 2-1,41-1 3823,-162 14-2958,30-4-1558,-104 20 0,-53 27-70,199-46 16,-437 132-1088,156-44 126,-655 156-2808,446-121 3000,-114 22-933,223-56 1512,358-85 502,24-5-83,1 0 0,-1 0 0,1 1 0,-1 0 0,1 0 0,0 1 0,1 1 0,-1 0 0,-14 10 0,23-15-189,1 1 0,-1-1 1,1 0-1,-1 1 0,1-1 1,-1 1-1,1-1 0,-1 1 1,1-1-1,0 1 0,-1-1 1,1 1-1,0 0 0,-1-1 0,1 1 1,0-1-1,0 1 0,0 0 1,0-1-1,-1 1 0,1 0 1,0-1-1,0 1 0,0 0 1,0-1-1,1 1 0,-1 0 0,0-1 1,0 1-1,0 0 0,0-1 1,1 1-1,-1-1 0,0 1 1,0 0-1,1-1 0,-1 1 1,1-1-1,-1 1 0,0-1 1,1 1-1,-1-1 0,1 1 0,-1-1 1,1 0-1,-1 1 0,1-1 1,0 0-1,-1 1 0,1-1 1,-1 0-1,1 0 0,0 1 1,-1-1-1,2 0 0,42 13 1309,-38-12-1139,-5 0-207,86 20 471,0-4 1,1-4-1,95 3 0,-24-23-927,271-48 0,453-139-3063,-546 111 2587,826-179 27,-880 180 4950,-329 83-2385,38-1-1458,-385 1 170,-200 10-1178,498-1 724,-96 22 0,-93 36 25,210-49-55,-152 39-895,-199 47 746,358-91 268,0-3 0,-87 3 0,152-14 56,-27 2 325,20 1-39,16 2 417,24 6-567,0-1 1,37 5-1,4 2-123,-42-9-81,188 47 0,-164-45 0,1-2 0,62 2 0,17-12-121,0-4 0,244-46-1,255-98-390,-419 95 459,-181 48 53,25-9 0,-57 16-1,-1 0 1,0 0-1,1 0 1,-1 0-1,0 0 1,1 0-1,-1 0 0,1 0 1,-1 0-1,0 0 1,1 0-1,-1-1 1,0 1-1,1 0 0,-1 0 1,0 0-1,1-1 1,-1 1-1,0 0 1,0 0-1,1 0 0,-1-1 1,0 1-1,0 0 1,1-1-1,-1 1 1,0 0-1,0-1 0,0 1 1,0 0-1,0-1 1,1 1-1,-1 0 1,0-1-1,0 1 0,0 0 1,0-1-1,0 1 1,0-1-1,0 1 1,0 0-1,0-1 0,0 1 1,0 0-1,-1-1 1,1 1-1,0 0 1,0-1-1,0 1 0,0 0 1,0-1-1,-1 1 1,1 0-1,0-1 1,0 1-1,-1 0 0,1 0 1,0-1-1,0 1 1,-1 0-1,1 0 1,0-1-1,-1 1 0,1 0 1,0 0-1,-1 0 1,0 0-1,-24-11 195,-6 4-94,0 1 1,0 1-1,-38 0 1,-101 5 216,81 2-262,-1742-1-4842,1659-1 1383</inkml:trace>
</inkml:ink>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572"/>
            <a:ext cx="133350" cy="985519"/>
          </a:xfrm>
          <a:custGeom>
            <a:avLst/>
            <a:gdLst/>
            <a:ahLst/>
            <a:cxnLst/>
            <a:rect l="l" t="t" r="r" b="b"/>
            <a:pathLst>
              <a:path w="133350" h="985519">
                <a:moveTo>
                  <a:pt x="133350" y="985362"/>
                </a:moveTo>
                <a:lnTo>
                  <a:pt x="0" y="985362"/>
                </a:lnTo>
                <a:lnTo>
                  <a:pt x="0" y="0"/>
                </a:lnTo>
                <a:lnTo>
                  <a:pt x="133350" y="0"/>
                </a:lnTo>
                <a:lnTo>
                  <a:pt x="133350" y="985362"/>
                </a:lnTo>
                <a:close/>
              </a:path>
            </a:pathLst>
          </a:custGeom>
          <a:solidFill>
            <a:srgbClr val="DA7462"/>
          </a:solidFill>
        </p:spPr>
        <p:txBody>
          <a:bodyPr wrap="square" lIns="0" tIns="0" rIns="0" bIns="0" rtlCol="0"/>
          <a:lstStyle/>
          <a:p/>
        </p:txBody>
      </p:sp>
      <p:sp>
        <p:nvSpPr>
          <p:cNvPr id="17" name="bg object 17"/>
          <p:cNvSpPr/>
          <p:nvPr/>
        </p:nvSpPr>
        <p:spPr>
          <a:xfrm>
            <a:off x="5414234" y="3782729"/>
            <a:ext cx="1548765" cy="134620"/>
          </a:xfrm>
          <a:custGeom>
            <a:avLst/>
            <a:gdLst/>
            <a:ahLst/>
            <a:cxnLst/>
            <a:rect l="l" t="t" r="r" b="b"/>
            <a:pathLst>
              <a:path w="1548765" h="134620">
                <a:moveTo>
                  <a:pt x="1548556" y="134094"/>
                </a:moveTo>
                <a:lnTo>
                  <a:pt x="0" y="134094"/>
                </a:lnTo>
                <a:lnTo>
                  <a:pt x="0" y="0"/>
                </a:lnTo>
                <a:lnTo>
                  <a:pt x="1548556" y="0"/>
                </a:lnTo>
                <a:lnTo>
                  <a:pt x="1548556" y="134094"/>
                </a:lnTo>
                <a:close/>
              </a:path>
            </a:pathLst>
          </a:custGeom>
          <a:solidFill>
            <a:srgbClr val="DA7462"/>
          </a:solidFill>
        </p:spPr>
        <p:txBody>
          <a:bodyPr wrap="square" lIns="0" tIns="0" rIns="0" bIns="0" rtlCol="0"/>
          <a:lstStyle/>
          <a:p/>
        </p:txBody>
      </p:sp>
      <p:pic>
        <p:nvPicPr>
          <p:cNvPr id="18" name="bg object 18"/>
          <p:cNvPicPr/>
          <p:nvPr/>
        </p:nvPicPr>
        <p:blipFill>
          <a:blip r:embed="rId2" cstate="print"/>
          <a:stretch>
            <a:fillRect/>
          </a:stretch>
        </p:blipFill>
        <p:spPr>
          <a:xfrm>
            <a:off x="3613253" y="2674126"/>
            <a:ext cx="244524" cy="245566"/>
          </a:xfrm>
          <a:prstGeom prst="rect">
            <a:avLst/>
          </a:prstGeom>
        </p:spPr>
      </p:pic>
      <p:pic>
        <p:nvPicPr>
          <p:cNvPr id="19" name="bg object 19"/>
          <p:cNvPicPr/>
          <p:nvPr/>
        </p:nvPicPr>
        <p:blipFill>
          <a:blip r:embed="rId3" cstate="print"/>
          <a:stretch>
            <a:fillRect/>
          </a:stretch>
        </p:blipFill>
        <p:spPr>
          <a:xfrm>
            <a:off x="2589041" y="2674126"/>
            <a:ext cx="244484" cy="245566"/>
          </a:xfrm>
          <a:prstGeom prst="rect">
            <a:avLst/>
          </a:prstGeom>
        </p:spPr>
      </p:pic>
      <p:pic>
        <p:nvPicPr>
          <p:cNvPr id="20" name="bg object 20"/>
          <p:cNvPicPr/>
          <p:nvPr/>
        </p:nvPicPr>
        <p:blipFill>
          <a:blip r:embed="rId4" cstate="print"/>
          <a:stretch>
            <a:fillRect/>
          </a:stretch>
        </p:blipFill>
        <p:spPr>
          <a:xfrm>
            <a:off x="3101147" y="2674126"/>
            <a:ext cx="244524" cy="245566"/>
          </a:xfrm>
          <a:prstGeom prst="rect">
            <a:avLst/>
          </a:prstGeom>
        </p:spPr>
      </p:pic>
      <p:pic>
        <p:nvPicPr>
          <p:cNvPr id="21" name="bg object 21"/>
          <p:cNvPicPr/>
          <p:nvPr/>
        </p:nvPicPr>
        <p:blipFill>
          <a:blip r:embed="rId5" cstate="print"/>
          <a:stretch>
            <a:fillRect/>
          </a:stretch>
        </p:blipFill>
        <p:spPr>
          <a:xfrm>
            <a:off x="4125355" y="2696971"/>
            <a:ext cx="245445" cy="199833"/>
          </a:xfrm>
          <a:prstGeom prst="rect">
            <a:avLst/>
          </a:prstGeom>
        </p:spPr>
      </p:pic>
      <p:sp>
        <p:nvSpPr>
          <p:cNvPr id="2" name="Holder 2"/>
          <p:cNvSpPr>
            <a:spLocks noGrp="1"/>
          </p:cNvSpPr>
          <p:nvPr>
            <p:ph type="ctrTitle"/>
          </p:nvPr>
        </p:nvSpPr>
        <p:spPr>
          <a:xfrm>
            <a:off x="2938430" y="906208"/>
            <a:ext cx="1101788" cy="379730"/>
          </a:xfrm>
          <a:prstGeom prst="rect">
            <a:avLst/>
          </a:prstGeom>
        </p:spPr>
        <p:txBody>
          <a:bodyPr wrap="square" lIns="0" tIns="0" rIns="0" bIns="0">
            <a:spAutoFit/>
          </a:bodyPr>
          <a:lstStyle>
            <a:lvl1pPr>
              <a:defRPr b="0" i="0">
                <a:solidFill>
                  <a:schemeClr val="tx1"/>
                </a:solidFill>
              </a:defRPr>
            </a:lvl1pPr>
          </a:lstStyle>
          <a:p/>
        </p:txBody>
      </p:sp>
      <p:sp>
        <p:nvSpPr>
          <p:cNvPr id="3" name="Holder 3"/>
          <p:cNvSpPr>
            <a:spLocks noGrp="1"/>
          </p:cNvSpPr>
          <p:nvPr>
            <p:ph type="subTitle" idx="4"/>
          </p:nvPr>
        </p:nvSpPr>
        <p:spPr>
          <a:xfrm>
            <a:off x="1046797" y="2201164"/>
            <a:ext cx="4885055" cy="982662"/>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827761" y="1963707"/>
            <a:ext cx="134620" cy="1949450"/>
          </a:xfrm>
          <a:custGeom>
            <a:avLst/>
            <a:gdLst/>
            <a:ahLst/>
            <a:cxnLst/>
            <a:rect l="l" t="t" r="r" b="b"/>
            <a:pathLst>
              <a:path w="134620" h="1949450">
                <a:moveTo>
                  <a:pt x="134094" y="1949350"/>
                </a:moveTo>
                <a:lnTo>
                  <a:pt x="0" y="1949350"/>
                </a:lnTo>
                <a:lnTo>
                  <a:pt x="0" y="0"/>
                </a:lnTo>
                <a:lnTo>
                  <a:pt x="134094" y="0"/>
                </a:lnTo>
                <a:lnTo>
                  <a:pt x="134094" y="1949350"/>
                </a:lnTo>
                <a:close/>
              </a:path>
            </a:pathLst>
          </a:custGeom>
          <a:solidFill>
            <a:srgbClr val="DA7462"/>
          </a:solidFill>
        </p:spPr>
        <p:txBody>
          <a:bodyPr wrap="square" lIns="0" tIns="0" rIns="0" bIns="0" rtlCol="0"/>
          <a:lstStyle/>
          <a:p/>
        </p:txBody>
      </p:sp>
      <p:sp>
        <p:nvSpPr>
          <p:cNvPr id="17" name="bg object 17"/>
          <p:cNvSpPr/>
          <p:nvPr/>
        </p:nvSpPr>
        <p:spPr>
          <a:xfrm>
            <a:off x="0" y="3571"/>
            <a:ext cx="133350" cy="1229360"/>
          </a:xfrm>
          <a:custGeom>
            <a:avLst/>
            <a:gdLst/>
            <a:ahLst/>
            <a:cxnLst/>
            <a:rect l="l" t="t" r="r" b="b"/>
            <a:pathLst>
              <a:path w="133350" h="1229360">
                <a:moveTo>
                  <a:pt x="133349" y="1229022"/>
                </a:moveTo>
                <a:lnTo>
                  <a:pt x="0" y="1229022"/>
                </a:lnTo>
                <a:lnTo>
                  <a:pt x="0" y="0"/>
                </a:lnTo>
                <a:lnTo>
                  <a:pt x="133349" y="0"/>
                </a:lnTo>
                <a:lnTo>
                  <a:pt x="133349" y="1229022"/>
                </a:lnTo>
                <a:close/>
              </a:path>
            </a:pathLst>
          </a:custGeom>
          <a:solidFill>
            <a:srgbClr val="DA7462"/>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1050" b="1" i="0">
                <a:solidFill>
                  <a:srgbClr val="424242"/>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050" b="1" i="0">
                <a:solidFill>
                  <a:srgbClr val="424242"/>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348932" y="904049"/>
            <a:ext cx="3035712" cy="259422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3594004" y="904049"/>
            <a:ext cx="3035712" cy="259422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223860" y="3778922"/>
            <a:ext cx="1739264" cy="134620"/>
          </a:xfrm>
          <a:custGeom>
            <a:avLst/>
            <a:gdLst/>
            <a:ahLst/>
            <a:cxnLst/>
            <a:rect l="l" t="t" r="r" b="b"/>
            <a:pathLst>
              <a:path w="1739265" h="134620">
                <a:moveTo>
                  <a:pt x="1739056" y="134094"/>
                </a:moveTo>
                <a:lnTo>
                  <a:pt x="0" y="134094"/>
                </a:lnTo>
                <a:lnTo>
                  <a:pt x="0" y="0"/>
                </a:lnTo>
                <a:lnTo>
                  <a:pt x="1739056" y="0"/>
                </a:lnTo>
                <a:lnTo>
                  <a:pt x="1739056" y="134094"/>
                </a:lnTo>
                <a:close/>
              </a:path>
            </a:pathLst>
          </a:custGeom>
          <a:solidFill>
            <a:srgbClr val="DA7462"/>
          </a:solidFill>
        </p:spPr>
        <p:txBody>
          <a:bodyPr wrap="square" lIns="0" tIns="0" rIns="0" bIns="0" rtlCol="0"/>
          <a:lstStyle/>
          <a:p/>
        </p:txBody>
      </p:sp>
      <p:sp>
        <p:nvSpPr>
          <p:cNvPr id="17" name="bg object 17"/>
          <p:cNvSpPr/>
          <p:nvPr/>
        </p:nvSpPr>
        <p:spPr>
          <a:xfrm>
            <a:off x="5223860" y="3571"/>
            <a:ext cx="1739264" cy="130175"/>
          </a:xfrm>
          <a:custGeom>
            <a:avLst/>
            <a:gdLst/>
            <a:ahLst/>
            <a:cxnLst/>
            <a:rect l="l" t="t" r="r" b="b"/>
            <a:pathLst>
              <a:path w="1739265" h="130175">
                <a:moveTo>
                  <a:pt x="0" y="0"/>
                </a:moveTo>
                <a:lnTo>
                  <a:pt x="1739056" y="0"/>
                </a:lnTo>
                <a:lnTo>
                  <a:pt x="1739056" y="129778"/>
                </a:lnTo>
                <a:lnTo>
                  <a:pt x="0" y="129778"/>
                </a:lnTo>
                <a:lnTo>
                  <a:pt x="0" y="0"/>
                </a:lnTo>
                <a:close/>
              </a:path>
            </a:pathLst>
          </a:custGeom>
          <a:solidFill>
            <a:srgbClr val="DA7462"/>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1050" b="1" i="0">
                <a:solidFill>
                  <a:srgbClr val="424242"/>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87593" y="788113"/>
            <a:ext cx="6403462" cy="185419"/>
          </a:xfrm>
          <a:prstGeom prst="rect">
            <a:avLst/>
          </a:prstGeom>
        </p:spPr>
        <p:txBody>
          <a:bodyPr wrap="square" lIns="0" tIns="0" rIns="0" bIns="0">
            <a:spAutoFit/>
          </a:bodyPr>
          <a:lstStyle>
            <a:lvl1pPr>
              <a:defRPr sz="1050" b="1" i="0">
                <a:solidFill>
                  <a:srgbClr val="424242"/>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267475" y="930928"/>
            <a:ext cx="6443699" cy="194183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2372741" y="3655504"/>
            <a:ext cx="2233168" cy="19653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348932" y="3655504"/>
            <a:ext cx="1605089" cy="19653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5024628" y="3655504"/>
            <a:ext cx="1605089" cy="19653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jpe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12.png"/><Relationship Id="rId7" Type="http://schemas.openxmlformats.org/officeDocument/2006/relationships/customXml" Target="../ink/ink4.xml"/><Relationship Id="rId6" Type="http://schemas.openxmlformats.org/officeDocument/2006/relationships/image" Target="../media/image11.png"/><Relationship Id="rId5" Type="http://schemas.openxmlformats.org/officeDocument/2006/relationships/customXml" Target="../ink/ink3.xml"/><Relationship Id="rId4" Type="http://schemas.openxmlformats.org/officeDocument/2006/relationships/image" Target="../media/image10.png"/><Relationship Id="rId3" Type="http://schemas.openxmlformats.org/officeDocument/2006/relationships/customXml" Target="../ink/ink2.xml"/><Relationship Id="rId2" Type="http://schemas.openxmlformats.org/officeDocument/2006/relationships/image" Target="../media/image9.png"/><Relationship Id="rId15" Type="http://schemas.openxmlformats.org/officeDocument/2006/relationships/slideLayout" Target="../slideLayouts/slideLayout1.xml"/><Relationship Id="rId14" Type="http://schemas.openxmlformats.org/officeDocument/2006/relationships/image" Target="../media/image15.png"/><Relationship Id="rId13" Type="http://schemas.openxmlformats.org/officeDocument/2006/relationships/customXml" Target="../ink/ink7.xml"/><Relationship Id="rId12" Type="http://schemas.openxmlformats.org/officeDocument/2006/relationships/image" Target="../media/image14.png"/><Relationship Id="rId11" Type="http://schemas.openxmlformats.org/officeDocument/2006/relationships/customXml" Target="../ink/ink6.xml"/><Relationship Id="rId10" Type="http://schemas.openxmlformats.org/officeDocument/2006/relationships/image" Target="../media/image13.png"/><Relationship Id="rId1"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Velammal Institute of Technolog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00150" y="288925"/>
            <a:ext cx="4676659" cy="685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43334" y="1203325"/>
            <a:ext cx="3486150" cy="213995"/>
          </a:xfrm>
          <a:prstGeom prst="rect">
            <a:avLst/>
          </a:prstGeom>
          <a:noFill/>
        </p:spPr>
        <p:txBody>
          <a:bodyPr wrap="square">
            <a:spAutoFit/>
          </a:bodyPr>
          <a:lstStyle/>
          <a:p>
            <a:r>
              <a:rPr lang="en-IN" sz="800" b="1" dirty="0">
                <a:latin typeface="Times New Roman" panose="02020603050405020304" charset="0"/>
                <a:cs typeface="Times New Roman" panose="02020603050405020304" charset="0"/>
              </a:rPr>
              <a:t>DEPARTMENT OF COMPUTER SCIENCE AND ENGINEERING</a:t>
            </a:r>
            <a:endParaRPr lang="en-IN" sz="800" b="1" dirty="0">
              <a:latin typeface="Times New Roman" panose="02020603050405020304" charset="0"/>
              <a:cs typeface="Times New Roman" panose="02020603050405020304" charset="0"/>
            </a:endParaRPr>
          </a:p>
        </p:txBody>
      </p:sp>
      <p:sp>
        <p:nvSpPr>
          <p:cNvPr id="6" name="TextBox 5"/>
          <p:cNvSpPr txBox="1"/>
          <p:nvPr/>
        </p:nvSpPr>
        <p:spPr>
          <a:xfrm>
            <a:off x="1690746" y="1727052"/>
            <a:ext cx="3486150" cy="1568450"/>
          </a:xfrm>
          <a:prstGeom prst="rect">
            <a:avLst/>
          </a:prstGeom>
          <a:noFill/>
        </p:spPr>
        <p:txBody>
          <a:bodyPr wrap="square">
            <a:spAutoFit/>
          </a:bodyPr>
          <a:lstStyle/>
          <a:p>
            <a:r>
              <a:rPr lang="en-IN" sz="1200" b="1" dirty="0">
                <a:latin typeface="Times New Roman" panose="02020603050405020304" charset="0"/>
                <a:cs typeface="Times New Roman" panose="02020603050405020304" charset="0"/>
              </a:rPr>
              <a:t>Project name : Smart Water Management</a:t>
            </a:r>
            <a:endParaRPr lang="en-IN" sz="1200" dirty="0">
              <a:latin typeface="Times New Roman" panose="02020603050405020304" charset="0"/>
              <a:cs typeface="Times New Roman" panose="02020603050405020304" charset="0"/>
            </a:endParaRPr>
          </a:p>
          <a:p>
            <a:r>
              <a:rPr lang="en-IN" sz="1200" b="1" dirty="0">
                <a:latin typeface="Times New Roman" panose="02020603050405020304" charset="0"/>
                <a:cs typeface="Times New Roman" panose="02020603050405020304" charset="0"/>
              </a:rPr>
              <a:t>Team name : Proj_224784_Team_3</a:t>
            </a:r>
            <a:endParaRPr lang="en-IN" sz="1200" dirty="0">
              <a:latin typeface="Times New Roman" panose="02020603050405020304" charset="0"/>
              <a:cs typeface="Times New Roman" panose="02020603050405020304" charset="0"/>
            </a:endParaRPr>
          </a:p>
          <a:p>
            <a:r>
              <a:rPr lang="en-IN" sz="1200" b="1" dirty="0">
                <a:latin typeface="Times New Roman" panose="02020603050405020304" charset="0"/>
                <a:cs typeface="Times New Roman" panose="02020603050405020304" charset="0"/>
              </a:rPr>
              <a:t>Team members :</a:t>
            </a:r>
            <a:endParaRPr lang="en-IN" sz="1200" b="1" dirty="0">
              <a:latin typeface="Times New Roman" panose="02020603050405020304" charset="0"/>
              <a:cs typeface="Times New Roman" panose="02020603050405020304" charset="0"/>
            </a:endParaRPr>
          </a:p>
          <a:p>
            <a:pPr marL="228600" indent="-228600">
              <a:buFont typeface="+mj-lt"/>
              <a:buAutoNum type="arabicPeriod"/>
            </a:pPr>
            <a:r>
              <a:rPr lang="en-IN" sz="1200" dirty="0">
                <a:latin typeface="Times New Roman" panose="02020603050405020304" charset="0"/>
                <a:cs typeface="Times New Roman" panose="02020603050405020304" charset="0"/>
                <a:sym typeface="+mn-ea"/>
              </a:rPr>
              <a:t>YUVARAJ K(113321104119)</a:t>
            </a:r>
            <a:endParaRPr lang="en-IN" sz="1200" dirty="0">
              <a:latin typeface="Times New Roman" panose="02020603050405020304" charset="0"/>
              <a:cs typeface="Times New Roman" panose="02020603050405020304" charset="0"/>
            </a:endParaRPr>
          </a:p>
          <a:p>
            <a:pPr marL="228600" indent="-228600">
              <a:buFont typeface="+mj-lt"/>
              <a:buAutoNum type="arabicPeriod"/>
            </a:pPr>
            <a:r>
              <a:rPr lang="en-IN" sz="1200" dirty="0">
                <a:latin typeface="Times New Roman" panose="02020603050405020304" charset="0"/>
                <a:cs typeface="Times New Roman" panose="02020603050405020304" charset="0"/>
              </a:rPr>
              <a:t>GOWTHAMCHANDRAN J(113321104301)</a:t>
            </a:r>
            <a:endParaRPr lang="en-IN" sz="1200" dirty="0">
              <a:latin typeface="Times New Roman" panose="02020603050405020304" charset="0"/>
              <a:cs typeface="Times New Roman" panose="02020603050405020304" charset="0"/>
            </a:endParaRPr>
          </a:p>
          <a:p>
            <a:pPr marL="228600" indent="-228600">
              <a:buFont typeface="+mj-lt"/>
              <a:buAutoNum type="arabicPeriod"/>
            </a:pPr>
            <a:r>
              <a:rPr lang="en-IN" sz="1200" dirty="0">
                <a:latin typeface="Times New Roman" panose="02020603050405020304" charset="0"/>
                <a:cs typeface="Times New Roman" panose="02020603050405020304" charset="0"/>
                <a:sym typeface="+mn-ea"/>
              </a:rPr>
              <a:t>KISHAN KANTH DS(113321104302)</a:t>
            </a:r>
            <a:endParaRPr lang="en-IN" sz="1200" dirty="0">
              <a:latin typeface="Times New Roman" panose="02020603050405020304" charset="0"/>
              <a:cs typeface="Times New Roman" panose="02020603050405020304" charset="0"/>
            </a:endParaRPr>
          </a:p>
          <a:p>
            <a:pPr marL="228600" indent="-228600">
              <a:buFont typeface="+mj-lt"/>
              <a:buAutoNum type="arabicPeriod"/>
            </a:pPr>
            <a:endParaRPr lang="en-IN" sz="1200" dirty="0">
              <a:latin typeface="Times New Roman" panose="02020603050405020304" charset="0"/>
              <a:cs typeface="Times New Roman" panose="02020603050405020304" charset="0"/>
            </a:endParaRPr>
          </a:p>
          <a:p>
            <a:pPr marL="228600" indent="-228600">
              <a:buFont typeface="+mj-lt"/>
              <a:buAutoNum type="arabicPeriod"/>
            </a:pPr>
            <a:endParaRPr lang="en-IN" sz="1200"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28713" y="2639534"/>
            <a:ext cx="134620" cy="1273810"/>
          </a:xfrm>
          <a:custGeom>
            <a:avLst/>
            <a:gdLst/>
            <a:ahLst/>
            <a:cxnLst/>
            <a:rect l="l" t="t" r="r" b="b"/>
            <a:pathLst>
              <a:path w="134620" h="1273810">
                <a:moveTo>
                  <a:pt x="134094" y="1273522"/>
                </a:moveTo>
                <a:lnTo>
                  <a:pt x="0" y="1273522"/>
                </a:lnTo>
                <a:lnTo>
                  <a:pt x="0" y="0"/>
                </a:lnTo>
                <a:lnTo>
                  <a:pt x="134094" y="0"/>
                </a:lnTo>
                <a:lnTo>
                  <a:pt x="134094" y="1273522"/>
                </a:lnTo>
                <a:close/>
              </a:path>
            </a:pathLst>
          </a:custGeom>
          <a:solidFill>
            <a:srgbClr val="DA7462"/>
          </a:solidFill>
        </p:spPr>
        <p:txBody>
          <a:bodyPr wrap="square" lIns="0" tIns="0" rIns="0" bIns="0" rtlCol="0"/>
          <a:lstStyle/>
          <a:p/>
        </p:txBody>
      </p:sp>
      <p:sp>
        <p:nvSpPr>
          <p:cNvPr id="3" name="object 3"/>
          <p:cNvSpPr/>
          <p:nvPr/>
        </p:nvSpPr>
        <p:spPr>
          <a:xfrm>
            <a:off x="0" y="3571"/>
            <a:ext cx="5040630" cy="130175"/>
          </a:xfrm>
          <a:custGeom>
            <a:avLst/>
            <a:gdLst/>
            <a:ahLst/>
            <a:cxnLst/>
            <a:rect l="l" t="t" r="r" b="b"/>
            <a:pathLst>
              <a:path w="5040630" h="130175">
                <a:moveTo>
                  <a:pt x="0" y="0"/>
                </a:moveTo>
                <a:lnTo>
                  <a:pt x="5040008" y="0"/>
                </a:lnTo>
                <a:lnTo>
                  <a:pt x="5040008" y="129778"/>
                </a:lnTo>
                <a:lnTo>
                  <a:pt x="0" y="129778"/>
                </a:lnTo>
                <a:lnTo>
                  <a:pt x="0" y="0"/>
                </a:lnTo>
                <a:close/>
              </a:path>
            </a:pathLst>
          </a:custGeom>
          <a:solidFill>
            <a:srgbClr val="DA7462"/>
          </a:solidFill>
        </p:spPr>
        <p:txBody>
          <a:bodyPr wrap="square" lIns="0" tIns="0" rIns="0" bIns="0" rtlCol="0"/>
          <a:lstStyle/>
          <a:p/>
        </p:txBody>
      </p:sp>
      <p:sp>
        <p:nvSpPr>
          <p:cNvPr id="5" name="object 5"/>
          <p:cNvSpPr txBox="1">
            <a:spLocks noGrp="1"/>
          </p:cNvSpPr>
          <p:nvPr>
            <p:ph type="title"/>
          </p:nvPr>
        </p:nvSpPr>
        <p:spPr>
          <a:xfrm>
            <a:off x="1916430" y="142636"/>
            <a:ext cx="3139440" cy="350096"/>
          </a:xfrm>
          <a:prstGeom prst="rect">
            <a:avLst/>
          </a:prstGeom>
        </p:spPr>
        <p:txBody>
          <a:bodyPr vert="horz" wrap="square" lIns="0" tIns="67310" rIns="0" bIns="0" rtlCol="0">
            <a:spAutoFit/>
          </a:bodyPr>
          <a:lstStyle/>
          <a:p>
            <a:pPr marL="12700" marR="5080" algn="ctr">
              <a:lnSpc>
                <a:spcPts val="2180"/>
              </a:lnSpc>
              <a:spcBef>
                <a:spcPts val="530"/>
              </a:spcBef>
            </a:pPr>
            <a:r>
              <a:rPr lang="en-US" sz="2150" dirty="0">
                <a:latin typeface="Arial" panose="020B0604020202020204"/>
                <a:cs typeface="Arial" panose="020B0604020202020204"/>
              </a:rPr>
              <a:t>PROJECT DEFINITION</a:t>
            </a:r>
            <a:endParaRPr sz="2150" dirty="0">
              <a:latin typeface="Arial" panose="020B0604020202020204"/>
              <a:cs typeface="Arial" panose="020B0604020202020204"/>
            </a:endParaRPr>
          </a:p>
        </p:txBody>
      </p:sp>
      <p:sp>
        <p:nvSpPr>
          <p:cNvPr id="6" name="TextBox 5"/>
          <p:cNvSpPr txBox="1"/>
          <p:nvPr/>
        </p:nvSpPr>
        <p:spPr>
          <a:xfrm>
            <a:off x="590550" y="822325"/>
            <a:ext cx="5943600" cy="2891790"/>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effectLst/>
                <a:latin typeface="Times New Roman" panose="02020603050405020304" charset="0"/>
                <a:cs typeface="Times New Roman" panose="02020603050405020304" charset="0"/>
              </a:rPr>
              <a:t>Implementing an IoT-based system to optimize water distribution, monitor quality, and reduce wastage for sustainable and efficient water management in urban areas.</a:t>
            </a:r>
            <a:endParaRPr lang="en-US" sz="1400" b="0" i="0" dirty="0">
              <a:effectLst/>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sz="1400" b="0" i="0" dirty="0">
              <a:effectLst/>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400" b="0" i="0" dirty="0">
                <a:effectLst/>
                <a:latin typeface="Times New Roman" panose="02020603050405020304" charset="0"/>
                <a:cs typeface="Times New Roman" panose="02020603050405020304" charset="0"/>
              </a:rPr>
              <a:t>Deploying sensor networks and predictive analytics to proactively detect leaks, enhance water conservation, and ensure the longevity of water infrastructure.</a:t>
            </a:r>
            <a:endParaRPr lang="en-US" sz="1400" b="0" i="0" dirty="0">
              <a:effectLst/>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sz="1400" b="0" i="0" dirty="0">
              <a:effectLst/>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400" b="0" i="0" dirty="0">
                <a:effectLst/>
                <a:latin typeface="Times New Roman" panose="02020603050405020304" charset="0"/>
                <a:cs typeface="Times New Roman" panose="02020603050405020304" charset="0"/>
              </a:rPr>
              <a:t>Leveraging smart meters and user-friendly apps to empower consumers with real-time data, encouraging responsible water consumption and promoting sustainability.</a:t>
            </a:r>
            <a:endParaRPr lang="en-US" sz="1400" b="0" i="0" dirty="0">
              <a:effectLst/>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sz="1400" dirty="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3790950" y="517525"/>
            <a:ext cx="2938462" cy="2234802"/>
          </a:xfrm>
          <a:prstGeom prst="rect">
            <a:avLst/>
          </a:prstGeom>
        </p:spPr>
      </p:pic>
      <p:sp>
        <p:nvSpPr>
          <p:cNvPr id="3" name="object 3"/>
          <p:cNvSpPr txBox="1">
            <a:spLocks noGrp="1"/>
          </p:cNvSpPr>
          <p:nvPr>
            <p:ph type="title"/>
          </p:nvPr>
        </p:nvSpPr>
        <p:spPr>
          <a:xfrm>
            <a:off x="1352550" y="60325"/>
            <a:ext cx="1418590" cy="219932"/>
          </a:xfrm>
          <a:prstGeom prst="rect">
            <a:avLst/>
          </a:prstGeom>
        </p:spPr>
        <p:txBody>
          <a:bodyPr vert="horz" wrap="square" lIns="0" tIns="12065" rIns="0" bIns="0" rtlCol="0">
            <a:spAutoFit/>
          </a:bodyPr>
          <a:lstStyle/>
          <a:p>
            <a:pPr marL="12700">
              <a:lnSpc>
                <a:spcPct val="100000"/>
              </a:lnSpc>
              <a:spcBef>
                <a:spcPts val="95"/>
              </a:spcBef>
            </a:pPr>
            <a:r>
              <a:rPr lang="en-US" sz="1350" spc="114" dirty="0"/>
              <a:t>OBJECTIVES</a:t>
            </a:r>
            <a:endParaRPr sz="1350" dirty="0"/>
          </a:p>
        </p:txBody>
      </p:sp>
      <p:sp>
        <p:nvSpPr>
          <p:cNvPr id="5" name="TextBox 4"/>
          <p:cNvSpPr txBox="1"/>
          <p:nvPr/>
        </p:nvSpPr>
        <p:spPr>
          <a:xfrm>
            <a:off x="209550" y="593725"/>
            <a:ext cx="3505200" cy="3046095"/>
          </a:xfrm>
          <a:prstGeom prst="rect">
            <a:avLst/>
          </a:prstGeom>
          <a:noFill/>
        </p:spPr>
        <p:txBody>
          <a:bodyPr wrap="square" rtlCol="0">
            <a:spAutoFit/>
          </a:bodyPr>
          <a:lstStyle/>
          <a:p>
            <a:pPr algn="l">
              <a:buFont typeface="+mj-lt"/>
              <a:buAutoNum type="arabicPeriod"/>
            </a:pPr>
            <a:r>
              <a:rPr lang="en-US" sz="1200" b="1" i="0" dirty="0">
                <a:effectLst/>
                <a:latin typeface="Times New Roman" panose="02020603050405020304" charset="0"/>
                <a:cs typeface="Times New Roman" panose="02020603050405020304" charset="0"/>
              </a:rPr>
              <a:t>Efficient Water Distribution</a:t>
            </a:r>
            <a:r>
              <a:rPr lang="en-US" sz="1200" b="0" i="0" dirty="0">
                <a:effectLst/>
                <a:latin typeface="Times New Roman" panose="02020603050405020304" charset="0"/>
                <a:cs typeface="Times New Roman" panose="02020603050405020304" charset="0"/>
              </a:rPr>
              <a:t>: Optimize the distribution of water resources by implementing IoT sensors and control systems to monitor and adjust water flow in real-time, reducing inefficiencies and ensuring equitable access.</a:t>
            </a:r>
            <a:endParaRPr lang="en-US" sz="1200" b="0" i="0" dirty="0">
              <a:effectLst/>
              <a:latin typeface="Times New Roman" panose="02020603050405020304" charset="0"/>
              <a:cs typeface="Times New Roman" panose="02020603050405020304" charset="0"/>
            </a:endParaRPr>
          </a:p>
          <a:p>
            <a:pPr algn="l">
              <a:buFont typeface="+mj-lt"/>
              <a:buAutoNum type="arabicPeriod"/>
            </a:pPr>
            <a:r>
              <a:rPr lang="en-US" sz="1200" b="1" i="0" dirty="0">
                <a:effectLst/>
                <a:latin typeface="Times New Roman" panose="02020603050405020304" charset="0"/>
                <a:cs typeface="Times New Roman" panose="02020603050405020304" charset="0"/>
              </a:rPr>
              <a:t>Water Quality Assurance</a:t>
            </a:r>
            <a:r>
              <a:rPr lang="en-US" sz="1200" b="0" i="0" dirty="0">
                <a:effectLst/>
                <a:latin typeface="Times New Roman" panose="02020603050405020304" charset="0"/>
                <a:cs typeface="Times New Roman" panose="02020603050405020304" charset="0"/>
              </a:rPr>
              <a:t>: Continuously monitor and manage water quality parameters through automated sensors to promptly detect contaminants, pH levels, and turbidity, ensuring safe and clean drinking water for communities.</a:t>
            </a:r>
            <a:endParaRPr lang="en-US" sz="1200" b="0" i="0" dirty="0">
              <a:effectLst/>
              <a:latin typeface="Times New Roman" panose="02020603050405020304" charset="0"/>
              <a:cs typeface="Times New Roman" panose="02020603050405020304" charset="0"/>
            </a:endParaRPr>
          </a:p>
          <a:p>
            <a:pPr algn="l">
              <a:buFont typeface="+mj-lt"/>
              <a:buAutoNum type="arabicPeriod"/>
            </a:pPr>
            <a:r>
              <a:rPr lang="en-US" sz="1200" b="1" i="0" dirty="0">
                <a:effectLst/>
                <a:latin typeface="Times New Roman" panose="02020603050405020304" charset="0"/>
                <a:cs typeface="Times New Roman" panose="02020603050405020304" charset="0"/>
              </a:rPr>
              <a:t>Leak Detection and Reduction</a:t>
            </a:r>
            <a:r>
              <a:rPr lang="en-US" sz="1200" b="0" i="0" dirty="0">
                <a:effectLst/>
                <a:latin typeface="Times New Roman" panose="02020603050405020304" charset="0"/>
                <a:cs typeface="Times New Roman" panose="02020603050405020304" charset="0"/>
              </a:rPr>
              <a:t>: Develop algorithms and sensor networks to swiftly identify and locate water leaks in the distribution network, minimizing water loss and reducing maintenance costs.</a:t>
            </a:r>
            <a:endParaRPr lang="en-US" sz="1200" b="0" i="0" dirty="0">
              <a:effectLst/>
              <a:latin typeface="Times New Roman" panose="02020603050405020304" charset="0"/>
              <a:cs typeface="Times New Roman" panose="02020603050405020304" charset="0"/>
            </a:endParaRPr>
          </a:p>
          <a:p>
            <a:endParaRPr lang="en-US" sz="1200"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cesses 10 02462 g001 55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588963"/>
            <a:ext cx="2882265" cy="297656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p:cNvSpPr>
            <a:spLocks noGrp="1"/>
          </p:cNvSpPr>
          <p:nvPr>
            <p:ph type="title"/>
          </p:nvPr>
        </p:nvSpPr>
        <p:spPr>
          <a:xfrm>
            <a:off x="2952750" y="122800"/>
            <a:ext cx="990600" cy="242325"/>
          </a:xfrm>
        </p:spPr>
        <p:txBody>
          <a:bodyPr/>
          <a:lstStyle/>
          <a:p>
            <a:pPr algn="ctr"/>
            <a:r>
              <a:rPr lang="en-US" dirty="0"/>
              <a:t>IOT DESIGN</a:t>
            </a:r>
            <a:br>
              <a:rPr lang="en-US" dirty="0"/>
            </a:br>
            <a:endParaRPr lang="en-US" dirty="0"/>
          </a:p>
        </p:txBody>
      </p:sp>
      <p:sp>
        <p:nvSpPr>
          <p:cNvPr id="8" name="TextBox 7"/>
          <p:cNvSpPr txBox="1"/>
          <p:nvPr/>
        </p:nvSpPr>
        <p:spPr>
          <a:xfrm>
            <a:off x="443865" y="365125"/>
            <a:ext cx="2438400" cy="261610"/>
          </a:xfrm>
          <a:prstGeom prst="rect">
            <a:avLst/>
          </a:prstGeom>
          <a:noFill/>
        </p:spPr>
        <p:txBody>
          <a:bodyPr wrap="square" rtlCol="0">
            <a:spAutoFit/>
          </a:bodyPr>
          <a:lstStyle/>
          <a:p>
            <a:pPr algn="ctr"/>
            <a:r>
              <a:rPr lang="en-US" sz="1100" b="0" i="0" dirty="0">
                <a:solidFill>
                  <a:srgbClr val="222222"/>
                </a:solidFill>
                <a:effectLst/>
                <a:latin typeface="Arial" panose="020B0604020202020204" pitchFamily="34" charset="0"/>
              </a:rPr>
              <a:t>Smart water tank using IOT</a:t>
            </a:r>
            <a:endParaRPr lang="en-US" sz="1100" dirty="0"/>
          </a:p>
        </p:txBody>
      </p:sp>
      <p:pic>
        <p:nvPicPr>
          <p:cNvPr id="1028" name="Picture 4" descr="Processes 10 02462 g002 5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0950" y="669924"/>
            <a:ext cx="2992703" cy="310006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4476750" y="309776"/>
            <a:ext cx="1752600" cy="415498"/>
          </a:xfrm>
          <a:prstGeom prst="rect">
            <a:avLst/>
          </a:prstGeom>
          <a:noFill/>
        </p:spPr>
        <p:txBody>
          <a:bodyPr wrap="square" rtlCol="0">
            <a:spAutoFit/>
          </a:bodyPr>
          <a:lstStyle/>
          <a:p>
            <a:pPr algn="ctr"/>
            <a:r>
              <a:rPr lang="en-US" sz="1050" b="0" i="0" dirty="0">
                <a:solidFill>
                  <a:srgbClr val="222222"/>
                </a:solidFill>
                <a:effectLst/>
                <a:latin typeface="Arial" panose="020B0604020202020204" pitchFamily="34" charset="0"/>
              </a:rPr>
              <a:t> IOT-based smart water management systems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60575" y="212725"/>
            <a:ext cx="2851150" cy="196215"/>
          </a:xfrm>
          <a:prstGeom prst="rect">
            <a:avLst/>
          </a:prstGeom>
        </p:spPr>
        <p:txBody>
          <a:bodyPr vert="horz" wrap="square" lIns="0" tIns="12065" rIns="0" bIns="0" rtlCol="0">
            <a:spAutoFit/>
          </a:bodyPr>
          <a:lstStyle/>
          <a:p>
            <a:pPr marL="12700">
              <a:lnSpc>
                <a:spcPct val="100000"/>
              </a:lnSpc>
              <a:spcBef>
                <a:spcPts val="95"/>
              </a:spcBef>
            </a:pPr>
            <a:r>
              <a:rPr lang="en-US" sz="1200" i="0" dirty="0">
                <a:solidFill>
                  <a:schemeClr val="tx1"/>
                </a:solidFill>
                <a:effectLst/>
                <a:latin typeface="Times New Roman" panose="02020603050405020304" charset="0"/>
                <a:cs typeface="Times New Roman" panose="02020603050405020304" charset="0"/>
              </a:rPr>
              <a:t>Real-Time Transit Information Platform </a:t>
            </a:r>
            <a:endParaRPr sz="1200" dirty="0">
              <a:solidFill>
                <a:schemeClr val="tx1"/>
              </a:solidFill>
              <a:latin typeface="Times New Roman" panose="02020603050405020304" charset="0"/>
              <a:cs typeface="Times New Roman" panose="02020603050405020304" charset="0"/>
            </a:endParaRPr>
          </a:p>
        </p:txBody>
      </p:sp>
      <p:sp>
        <p:nvSpPr>
          <p:cNvPr id="4" name="object 4"/>
          <p:cNvSpPr/>
          <p:nvPr/>
        </p:nvSpPr>
        <p:spPr>
          <a:xfrm>
            <a:off x="0" y="3571"/>
            <a:ext cx="131445" cy="1448435"/>
          </a:xfrm>
          <a:custGeom>
            <a:avLst/>
            <a:gdLst/>
            <a:ahLst/>
            <a:cxnLst/>
            <a:rect l="l" t="t" r="r" b="b"/>
            <a:pathLst>
              <a:path w="131445" h="1448435">
                <a:moveTo>
                  <a:pt x="0" y="0"/>
                </a:moveTo>
                <a:lnTo>
                  <a:pt x="131199" y="0"/>
                </a:lnTo>
                <a:lnTo>
                  <a:pt x="131199" y="1447838"/>
                </a:lnTo>
                <a:lnTo>
                  <a:pt x="0" y="1447838"/>
                </a:lnTo>
                <a:lnTo>
                  <a:pt x="0" y="0"/>
                </a:lnTo>
                <a:close/>
              </a:path>
            </a:pathLst>
          </a:custGeom>
          <a:solidFill>
            <a:srgbClr val="DA7462"/>
          </a:solidFill>
        </p:spPr>
        <p:txBody>
          <a:bodyPr wrap="square" lIns="0" tIns="0" rIns="0" bIns="0" rtlCol="0"/>
          <a:lstStyle/>
          <a:p/>
        </p:txBody>
      </p:sp>
      <p:sp>
        <p:nvSpPr>
          <p:cNvPr id="6" name="TextBox 5"/>
          <p:cNvSpPr txBox="1"/>
          <p:nvPr/>
        </p:nvSpPr>
        <p:spPr>
          <a:xfrm>
            <a:off x="209550" y="330834"/>
            <a:ext cx="3124200" cy="3923030"/>
          </a:xfrm>
          <a:prstGeom prst="rect">
            <a:avLst/>
          </a:prstGeom>
          <a:noFill/>
        </p:spPr>
        <p:txBody>
          <a:bodyPr wrap="square" rtlCol="0">
            <a:spAutoFit/>
          </a:bodyPr>
          <a:lstStyle/>
          <a:p>
            <a:pPr algn="l"/>
            <a:r>
              <a:rPr lang="en-US" sz="1000" b="1" i="0" dirty="0">
                <a:effectLst/>
                <a:latin typeface="Times New Roman" panose="02020603050405020304" charset="0"/>
                <a:cs typeface="Times New Roman" panose="02020603050405020304" charset="0"/>
              </a:rPr>
              <a:t>Objective:</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Develop a real-time transit information platform to efficiently manage water resources.</a:t>
            </a:r>
            <a:endParaRPr lang="en-US" sz="1000" b="0" i="0" dirty="0">
              <a:effectLst/>
              <a:latin typeface="Times New Roman" panose="02020603050405020304" charset="0"/>
              <a:cs typeface="Times New Roman" panose="02020603050405020304" charset="0"/>
            </a:endParaRPr>
          </a:p>
          <a:p>
            <a:pPr algn="l"/>
            <a:r>
              <a:rPr lang="en-US" sz="1000" b="1" i="0" dirty="0">
                <a:effectLst/>
                <a:latin typeface="Times New Roman" panose="02020603050405020304" charset="0"/>
                <a:cs typeface="Times New Roman" panose="02020603050405020304" charset="0"/>
              </a:rPr>
              <a:t>Key Features:</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IoT Sensors: Install sensors across the water distribution network to monitor flow rates, pressure, and water quality.</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Data Integration: Collect and integrate data from various sources, including sensors, weather forecasts, and historical usage data.</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Predictive Analytics: Utilize advanced analytics to forecast water demand, identify anomalies, and trigger alerts.</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User Interface: Create a user-friendly web or mobile app for consumers and utilities to access real-time data and receive alerts.</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Leak Detection: Implement algorithms to detect leaks promptly and pinpoint their location.</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Automation: Enable automated control of water distribution to optimize flow and reduce waste.</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000" b="0" i="0" dirty="0">
                <a:effectLst/>
                <a:latin typeface="Times New Roman" panose="02020603050405020304" charset="0"/>
                <a:cs typeface="Times New Roman" panose="02020603050405020304" charset="0"/>
              </a:rPr>
              <a:t>Sustainability Initiatives: Promote water conservation through consumer engagement and educational campaigns.</a:t>
            </a:r>
            <a:endParaRPr lang="en-US" sz="1000" b="0" i="0" dirty="0">
              <a:effectLst/>
              <a:latin typeface="Times New Roman" panose="02020603050405020304" charset="0"/>
              <a:cs typeface="Times New Roman" panose="02020603050405020304" charset="0"/>
            </a:endParaRPr>
          </a:p>
          <a:p>
            <a:pPr algn="l">
              <a:buFont typeface="Arial" panose="020B0604020202020204" pitchFamily="34" charset="0"/>
              <a:buChar char="•"/>
            </a:pPr>
            <a:endParaRPr lang="en-US" sz="1000" b="0" i="0" dirty="0">
              <a:effectLst/>
              <a:latin typeface="Times New Roman" panose="02020603050405020304" charset="0"/>
              <a:cs typeface="Times New Roman" panose="02020603050405020304" charset="0"/>
            </a:endParaRPr>
          </a:p>
          <a:p>
            <a:endParaRPr lang="en-US" sz="900" dirty="0">
              <a:latin typeface="Times New Roman" panose="02020603050405020304" charset="0"/>
              <a:cs typeface="Times New Roman" panose="02020603050405020304" charset="0"/>
            </a:endParaRPr>
          </a:p>
        </p:txBody>
      </p:sp>
      <p:sp>
        <p:nvSpPr>
          <p:cNvPr id="7" name="TextBox 6"/>
          <p:cNvSpPr txBox="1"/>
          <p:nvPr/>
        </p:nvSpPr>
        <p:spPr>
          <a:xfrm>
            <a:off x="3409950" y="517525"/>
            <a:ext cx="3429000" cy="3476625"/>
          </a:xfrm>
          <a:prstGeom prst="rect">
            <a:avLst/>
          </a:prstGeom>
          <a:noFill/>
        </p:spPr>
        <p:txBody>
          <a:bodyPr wrap="square" rtlCol="0">
            <a:spAutoFit/>
          </a:bodyPr>
          <a:lstStyle/>
          <a:p>
            <a:pPr algn="l"/>
            <a:r>
              <a:rPr lang="en-US" sz="1100" b="1" i="0" dirty="0">
                <a:effectLst/>
                <a:latin typeface="Times New Roman" panose="02020603050405020304" charset="0"/>
                <a:cs typeface="Times New Roman" panose="02020603050405020304" charset="0"/>
              </a:rPr>
              <a:t>Benefits: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Efficient water management</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Reduced water wastage</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Improved water quality</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Cost savings for utilities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Enhanced customer engagement</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Timely leak detection and repair</a:t>
            </a:r>
            <a:endParaRPr lang="en-US" sz="1100" b="0" i="0" dirty="0">
              <a:effectLst/>
              <a:latin typeface="Times New Roman" panose="02020603050405020304" charset="0"/>
              <a:cs typeface="Times New Roman" panose="02020603050405020304" charset="0"/>
            </a:endParaRPr>
          </a:p>
          <a:p>
            <a:pPr algn="l"/>
            <a:endParaRPr lang="en-US" sz="1100" b="0" i="0" dirty="0">
              <a:effectLst/>
              <a:latin typeface="Times New Roman" panose="02020603050405020304" charset="0"/>
              <a:cs typeface="Times New Roman" panose="02020603050405020304" charset="0"/>
            </a:endParaRPr>
          </a:p>
          <a:p>
            <a:pPr algn="l"/>
            <a:r>
              <a:rPr lang="en-US" sz="1100" b="1" i="0" dirty="0">
                <a:effectLst/>
                <a:latin typeface="Times New Roman" panose="02020603050405020304" charset="0"/>
                <a:cs typeface="Times New Roman" panose="02020603050405020304" charset="0"/>
              </a:rPr>
              <a:t>Stakeholders: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Water utilities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Local government agencies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Consumers and communities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Technology vendors</a:t>
            </a:r>
            <a:endParaRPr lang="en-US" sz="1100" b="0" i="0" dirty="0">
              <a:effectLst/>
              <a:latin typeface="Times New Roman" panose="02020603050405020304" charset="0"/>
              <a:cs typeface="Times New Roman" panose="02020603050405020304" charset="0"/>
            </a:endParaRPr>
          </a:p>
          <a:p>
            <a:pPr algn="l">
              <a:buFont typeface="Arial" panose="020B0604020202020204" pitchFamily="34" charset="0"/>
              <a:buChar char="•"/>
            </a:pPr>
            <a:r>
              <a:rPr lang="en-US" sz="1100" b="0" i="0" dirty="0">
                <a:effectLst/>
                <a:latin typeface="Times New Roman" panose="02020603050405020304" charset="0"/>
                <a:cs typeface="Times New Roman" panose="02020603050405020304" charset="0"/>
              </a:rPr>
              <a:t>Environmental organizations</a:t>
            </a:r>
            <a:endParaRPr lang="en-US" sz="1100" b="0" i="0" dirty="0">
              <a:effectLst/>
              <a:latin typeface="Times New Roman" panose="02020603050405020304" charset="0"/>
              <a:cs typeface="Times New Roman" panose="02020603050405020304" charset="0"/>
            </a:endParaRPr>
          </a:p>
          <a:p>
            <a:pPr algn="l"/>
            <a:endParaRPr lang="en-US" sz="1100" b="0" i="0" dirty="0">
              <a:effectLst/>
              <a:latin typeface="Times New Roman" panose="02020603050405020304" charset="0"/>
              <a:cs typeface="Times New Roman" panose="02020603050405020304" charset="0"/>
            </a:endParaRPr>
          </a:p>
          <a:p>
            <a:pPr algn="l"/>
            <a:r>
              <a:rPr lang="en-US" sz="1100" b="1" i="0" dirty="0">
                <a:effectLst/>
                <a:latin typeface="Times New Roman" panose="02020603050405020304" charset="0"/>
                <a:cs typeface="Times New Roman" panose="02020603050405020304" charset="0"/>
              </a:rPr>
              <a:t>Timeline:</a:t>
            </a:r>
            <a:r>
              <a:rPr lang="en-US" sz="1100" b="0" i="0" dirty="0">
                <a:effectLst/>
                <a:latin typeface="Times New Roman" panose="02020603050405020304" charset="0"/>
                <a:cs typeface="Times New Roman" panose="02020603050405020304" charset="0"/>
              </a:rPr>
              <a:t> Estimated project completion within 18-24 months.</a:t>
            </a:r>
            <a:endParaRPr lang="en-US" sz="1100" b="0" i="0" dirty="0">
              <a:effectLst/>
              <a:latin typeface="Times New Roman" panose="02020603050405020304" charset="0"/>
              <a:cs typeface="Times New Roman" panose="02020603050405020304" charset="0"/>
            </a:endParaRPr>
          </a:p>
          <a:p>
            <a:pPr algn="l"/>
            <a:endParaRPr lang="en-US" sz="1100" b="0" i="0" dirty="0">
              <a:effectLst/>
              <a:latin typeface="Times New Roman" panose="02020603050405020304" charset="0"/>
              <a:cs typeface="Times New Roman" panose="02020603050405020304" charset="0"/>
            </a:endParaRPr>
          </a:p>
          <a:p>
            <a:pPr algn="l"/>
            <a:r>
              <a:rPr lang="en-US" sz="1100" b="1" i="0" dirty="0">
                <a:effectLst/>
                <a:latin typeface="Times New Roman" panose="02020603050405020304" charset="0"/>
                <a:cs typeface="Times New Roman" panose="02020603050405020304" charset="0"/>
              </a:rPr>
              <a:t>Budget:</a:t>
            </a:r>
            <a:r>
              <a:rPr lang="en-US" sz="1100" b="0" i="0" dirty="0">
                <a:effectLst/>
                <a:latin typeface="Times New Roman" panose="02020603050405020304" charset="0"/>
                <a:cs typeface="Times New Roman" panose="02020603050405020304" charset="0"/>
              </a:rPr>
              <a:t> To be determined during the planning phase</a:t>
            </a:r>
            <a:endParaRPr lang="en-US" sz="1100" b="0" i="0" dirty="0">
              <a:effectLst/>
              <a:latin typeface="Times New Roman" panose="02020603050405020304" charset="0"/>
              <a:cs typeface="Times New Roman" panose="02020603050405020304" charset="0"/>
            </a:endParaRPr>
          </a:p>
          <a:p>
            <a:endParaRPr lang="en-US" sz="11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43150" y="136525"/>
            <a:ext cx="2189480" cy="219932"/>
          </a:xfrm>
          <a:prstGeom prst="rect">
            <a:avLst/>
          </a:prstGeom>
        </p:spPr>
        <p:txBody>
          <a:bodyPr vert="horz" wrap="square" lIns="0" tIns="12065" rIns="0" bIns="0" rtlCol="0">
            <a:spAutoFit/>
          </a:bodyPr>
          <a:lstStyle/>
          <a:p>
            <a:pPr marL="12700">
              <a:lnSpc>
                <a:spcPct val="100000"/>
              </a:lnSpc>
              <a:spcBef>
                <a:spcPts val="95"/>
              </a:spcBef>
            </a:pPr>
            <a:r>
              <a:rPr lang="en-US" sz="1350" dirty="0"/>
              <a:t>INTEGRATION APPROACH</a:t>
            </a:r>
            <a:endParaRPr sz="1350" dirty="0"/>
          </a:p>
        </p:txBody>
      </p:sp>
      <p:sp>
        <p:nvSpPr>
          <p:cNvPr id="5" name="TextBox 4"/>
          <p:cNvSpPr txBox="1"/>
          <p:nvPr/>
        </p:nvSpPr>
        <p:spPr>
          <a:xfrm>
            <a:off x="209550" y="593725"/>
            <a:ext cx="6477000" cy="2922905"/>
          </a:xfrm>
          <a:prstGeom prst="rect">
            <a:avLst/>
          </a:prstGeom>
          <a:noFill/>
        </p:spPr>
        <p:txBody>
          <a:bodyPr wrap="square" rtlCol="0">
            <a:spAutoFit/>
          </a:bodyPr>
          <a:lstStyle/>
          <a:p>
            <a:pPr algn="l">
              <a:buFont typeface="+mj-lt"/>
              <a:buAutoNum type="arabicPeriod"/>
            </a:pPr>
            <a:r>
              <a:rPr lang="en-US" sz="800" b="1" i="0" dirty="0">
                <a:effectLst/>
                <a:latin typeface="Times New Roman" panose="02020603050405020304" charset="0"/>
                <a:cs typeface="Times New Roman" panose="02020603050405020304" charset="0"/>
              </a:rPr>
              <a:t>Data Sources Integration:</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Collect data from IoT sensors placed in the water distribution network.</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Integrate data from weather forecasts to anticipate water demand based on climate conditions.</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Gather historical usage data to identify consumption patterns.</a:t>
            </a:r>
            <a:endParaRPr lang="en-US" sz="800" b="0" i="0" dirty="0">
              <a:effectLst/>
              <a:latin typeface="Times New Roman" panose="02020603050405020304" charset="0"/>
              <a:cs typeface="Times New Roman" panose="02020603050405020304" charset="0"/>
            </a:endParaRPr>
          </a:p>
          <a:p>
            <a:pPr algn="l">
              <a:buFont typeface="+mj-lt"/>
              <a:buAutoNum type="arabicPeriod"/>
            </a:pPr>
            <a:r>
              <a:rPr lang="en-US" sz="800" b="1" i="0" dirty="0">
                <a:effectLst/>
                <a:latin typeface="Times New Roman" panose="02020603050405020304" charset="0"/>
                <a:cs typeface="Times New Roman" panose="02020603050405020304" charset="0"/>
              </a:rPr>
              <a:t>Data Processing and Storage:</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Process incoming data to extract relevant information.</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Store data in a centralized database or cloud platform for easy access and analysis.</a:t>
            </a:r>
            <a:endParaRPr lang="en-US" sz="800" b="0" i="0" dirty="0">
              <a:effectLst/>
              <a:latin typeface="Times New Roman" panose="02020603050405020304" charset="0"/>
              <a:cs typeface="Times New Roman" panose="02020603050405020304" charset="0"/>
            </a:endParaRPr>
          </a:p>
          <a:p>
            <a:pPr algn="l">
              <a:buFont typeface="+mj-lt"/>
              <a:buAutoNum type="arabicPeriod"/>
            </a:pPr>
            <a:r>
              <a:rPr lang="en-US" sz="800" b="1" i="0" dirty="0">
                <a:effectLst/>
                <a:latin typeface="Times New Roman" panose="02020603050405020304" charset="0"/>
                <a:cs typeface="Times New Roman" panose="02020603050405020304" charset="0"/>
              </a:rPr>
              <a:t>Analytics and Prediction:</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Utilize predictive analytics algorithms to forecast water demand.</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Identify anomalies or irregularities in water flow and quality data.</a:t>
            </a:r>
            <a:endParaRPr lang="en-US" sz="800" b="0" i="0" dirty="0">
              <a:effectLst/>
              <a:latin typeface="Times New Roman" panose="02020603050405020304" charset="0"/>
              <a:cs typeface="Times New Roman" panose="02020603050405020304" charset="0"/>
            </a:endParaRPr>
          </a:p>
          <a:p>
            <a:pPr algn="l">
              <a:buFont typeface="+mj-lt"/>
              <a:buAutoNum type="arabicPeriod"/>
            </a:pPr>
            <a:r>
              <a:rPr lang="en-US" sz="800" b="1" i="0" dirty="0">
                <a:effectLst/>
                <a:latin typeface="Times New Roman" panose="02020603050405020304" charset="0"/>
                <a:cs typeface="Times New Roman" panose="02020603050405020304" charset="0"/>
              </a:rPr>
              <a:t>User Interface Development:</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Create a user-friendly web or mobile application for consumers and utility operators.</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Integrate the application with the data processing system.</a:t>
            </a:r>
            <a:endParaRPr lang="en-US" sz="800" b="0" i="0" dirty="0">
              <a:effectLst/>
              <a:latin typeface="Times New Roman" panose="02020603050405020304" charset="0"/>
              <a:cs typeface="Times New Roman" panose="02020603050405020304" charset="0"/>
            </a:endParaRPr>
          </a:p>
          <a:p>
            <a:pPr algn="l">
              <a:buFont typeface="+mj-lt"/>
              <a:buAutoNum type="arabicPeriod"/>
            </a:pPr>
            <a:r>
              <a:rPr lang="en-US" sz="800" b="1" i="0" dirty="0">
                <a:effectLst/>
                <a:latin typeface="Times New Roman" panose="02020603050405020304" charset="0"/>
                <a:cs typeface="Times New Roman" panose="02020603050405020304" charset="0"/>
              </a:rPr>
              <a:t>Alerting System:</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Implement an alerting system that sends notifications to users and utility operators in real-time.</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Alerts can include information on water quality issues, leaks, or abnormal usage patterns.</a:t>
            </a:r>
            <a:endParaRPr lang="en-US" sz="800" b="0" i="0" dirty="0">
              <a:effectLst/>
              <a:latin typeface="Times New Roman" panose="02020603050405020304" charset="0"/>
              <a:cs typeface="Times New Roman" panose="02020603050405020304" charset="0"/>
            </a:endParaRPr>
          </a:p>
          <a:p>
            <a:pPr algn="l">
              <a:buFont typeface="+mj-lt"/>
              <a:buAutoNum type="arabicPeriod"/>
            </a:pPr>
            <a:r>
              <a:rPr lang="en-US" sz="800" b="1" i="0" dirty="0">
                <a:effectLst/>
                <a:latin typeface="Times New Roman" panose="02020603050405020304" charset="0"/>
                <a:cs typeface="Times New Roman" panose="02020603050405020304" charset="0"/>
              </a:rPr>
              <a:t>Automation and Control:</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Enable automated control of water distribution based on real-time data and predictions.</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Use control systems to adjust flow rates, pressure, and valve positions as needed to optimize water distribution.</a:t>
            </a:r>
            <a:endParaRPr lang="en-US" sz="800" b="0" i="0" dirty="0">
              <a:effectLst/>
              <a:latin typeface="Times New Roman" panose="02020603050405020304" charset="0"/>
              <a:cs typeface="Times New Roman" panose="02020603050405020304" charset="0"/>
            </a:endParaRPr>
          </a:p>
          <a:p>
            <a:pPr algn="l">
              <a:buFont typeface="+mj-lt"/>
              <a:buAutoNum type="arabicPeriod"/>
            </a:pPr>
            <a:r>
              <a:rPr lang="en-US" sz="800" b="1" i="0" dirty="0">
                <a:effectLst/>
                <a:latin typeface="Times New Roman" panose="02020603050405020304" charset="0"/>
                <a:cs typeface="Times New Roman" panose="02020603050405020304" charset="0"/>
              </a:rPr>
              <a:t>Leak Detection:</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Integrate leak detection algorithms and sensors to identify leaks promptly.</a:t>
            </a:r>
            <a:endParaRPr lang="en-US" sz="8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800" b="0" i="0" dirty="0">
                <a:effectLst/>
                <a:latin typeface="Times New Roman" panose="02020603050405020304" charset="0"/>
                <a:cs typeface="Times New Roman" panose="02020603050405020304" charset="0"/>
              </a:rPr>
              <a:t>Pinpoint the exact location of leaks within the distribution network</a:t>
            </a:r>
            <a:endParaRPr lang="en-US" sz="800" b="0" i="0" dirty="0">
              <a:effectLst/>
              <a:latin typeface="Times New Roman" panose="02020603050405020304" charset="0"/>
              <a:cs typeface="Times New Roman" panose="02020603050405020304" charset="0"/>
            </a:endParaRPr>
          </a:p>
          <a:p>
            <a:endParaRPr lang="en-US" sz="800" dirty="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71179" y="1287001"/>
            <a:ext cx="2493645" cy="174407"/>
          </a:xfrm>
          <a:prstGeom prst="rect">
            <a:avLst/>
          </a:prstGeom>
        </p:spPr>
        <p:txBody>
          <a:bodyPr vert="horz" wrap="square" lIns="0" tIns="12700" rIns="0" bIns="0" rtlCol="0">
            <a:spAutoFit/>
          </a:bodyPr>
          <a:lstStyle/>
          <a:p>
            <a:pPr marL="12700" marR="5080" algn="ctr">
              <a:lnSpc>
                <a:spcPct val="100000"/>
              </a:lnSpc>
              <a:spcBef>
                <a:spcPts val="100"/>
              </a:spcBef>
            </a:pPr>
            <a:endParaRPr sz="1050" dirty="0">
              <a:latin typeface="Trebuchet MS" panose="020B0603020202020204"/>
              <a:cs typeface="Trebuchet MS" panose="020B0603020202020204"/>
            </a:endParaRPr>
          </a:p>
        </p:txBody>
      </p:sp>
      <p:sp>
        <p:nvSpPr>
          <p:cNvPr id="3" name="object 3"/>
          <p:cNvSpPr txBox="1">
            <a:spLocks noGrp="1"/>
          </p:cNvSpPr>
          <p:nvPr>
            <p:ph type="title"/>
          </p:nvPr>
        </p:nvSpPr>
        <p:spPr>
          <a:xfrm>
            <a:off x="-933450" y="60325"/>
            <a:ext cx="6559610" cy="174407"/>
          </a:xfrm>
          <a:prstGeom prst="rect">
            <a:avLst/>
          </a:prstGeom>
        </p:spPr>
        <p:txBody>
          <a:bodyPr vert="horz" wrap="square" lIns="0" tIns="12700" rIns="0" bIns="0" rtlCol="0">
            <a:spAutoFit/>
          </a:bodyPr>
          <a:lstStyle/>
          <a:p>
            <a:pPr marL="3874135" algn="l">
              <a:lnSpc>
                <a:spcPct val="100000"/>
              </a:lnSpc>
              <a:spcBef>
                <a:spcPts val="100"/>
              </a:spcBef>
            </a:pPr>
            <a:r>
              <a:rPr lang="en-US" sz="1050" dirty="0"/>
              <a:t>INTEGRATION APPROACH</a:t>
            </a:r>
            <a:endParaRPr spc="95" dirty="0"/>
          </a:p>
        </p:txBody>
      </p:sp>
      <p:sp>
        <p:nvSpPr>
          <p:cNvPr id="4" name="object 4"/>
          <p:cNvSpPr/>
          <p:nvPr/>
        </p:nvSpPr>
        <p:spPr>
          <a:xfrm>
            <a:off x="0" y="3571"/>
            <a:ext cx="131445" cy="1448435"/>
          </a:xfrm>
          <a:custGeom>
            <a:avLst/>
            <a:gdLst/>
            <a:ahLst/>
            <a:cxnLst/>
            <a:rect l="l" t="t" r="r" b="b"/>
            <a:pathLst>
              <a:path w="131445" h="1448435">
                <a:moveTo>
                  <a:pt x="0" y="0"/>
                </a:moveTo>
                <a:lnTo>
                  <a:pt x="131199" y="0"/>
                </a:lnTo>
                <a:lnTo>
                  <a:pt x="131199" y="1447838"/>
                </a:lnTo>
                <a:lnTo>
                  <a:pt x="0" y="1447838"/>
                </a:lnTo>
                <a:lnTo>
                  <a:pt x="0" y="0"/>
                </a:lnTo>
                <a:close/>
              </a:path>
            </a:pathLst>
          </a:custGeom>
          <a:solidFill>
            <a:srgbClr val="DA7462"/>
          </a:solidFill>
        </p:spPr>
        <p:txBody>
          <a:bodyPr wrap="square" lIns="0" tIns="0" rIns="0" bIns="0" rtlCol="0"/>
          <a:lstStyle/>
          <a:p/>
        </p:txBody>
      </p:sp>
      <p:sp>
        <p:nvSpPr>
          <p:cNvPr id="6" name="TextBox 5"/>
          <p:cNvSpPr txBox="1"/>
          <p:nvPr/>
        </p:nvSpPr>
        <p:spPr>
          <a:xfrm>
            <a:off x="209550" y="441325"/>
            <a:ext cx="6559610" cy="3276600"/>
          </a:xfrm>
          <a:prstGeom prst="rect">
            <a:avLst/>
          </a:prstGeom>
          <a:noFill/>
        </p:spPr>
        <p:txBody>
          <a:bodyPr wrap="square" rtlCol="0">
            <a:spAutoFit/>
          </a:bodyPr>
          <a:lstStyle/>
          <a:p>
            <a:pPr algn="l"/>
            <a:r>
              <a:rPr lang="en-US" sz="900" b="1" i="0" dirty="0">
                <a:effectLst/>
                <a:latin typeface="Times New Roman" panose="02020603050405020304" charset="0"/>
                <a:cs typeface="Times New Roman" panose="02020603050405020304" charset="0"/>
              </a:rPr>
              <a:t>8.Consumer Engagement:</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Connect the user interface with sustainability initiatives.</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Engage consumers through the application by providing real-time usage data, conservation tips, and progress reports.</a:t>
            </a:r>
            <a:endParaRPr lang="en-US" sz="900" b="0" i="0" dirty="0">
              <a:effectLst/>
              <a:latin typeface="Times New Roman" panose="02020603050405020304" charset="0"/>
              <a:cs typeface="Times New Roman" panose="02020603050405020304" charset="0"/>
            </a:endParaRPr>
          </a:p>
          <a:p>
            <a:pPr algn="l"/>
            <a:r>
              <a:rPr lang="en-US" sz="900" b="1" i="0" dirty="0">
                <a:effectLst/>
                <a:latin typeface="Times New Roman" panose="02020603050405020304" charset="0"/>
                <a:cs typeface="Times New Roman" panose="02020603050405020304" charset="0"/>
              </a:rPr>
              <a:t>9.Monitoring and Reporting:</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Establish monitoring mechanisms to continuously assess the system's performance.</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Generate regular reports on water usage, quality, leak detection, and conservation efforts.</a:t>
            </a:r>
            <a:endParaRPr lang="en-US" sz="900" b="0" i="0" dirty="0">
              <a:effectLst/>
              <a:latin typeface="Times New Roman" panose="02020603050405020304" charset="0"/>
              <a:cs typeface="Times New Roman" panose="02020603050405020304" charset="0"/>
            </a:endParaRPr>
          </a:p>
          <a:p>
            <a:pPr algn="l"/>
            <a:r>
              <a:rPr lang="en-US" sz="900" b="1" i="0" dirty="0">
                <a:effectLst/>
                <a:latin typeface="Times New Roman" panose="02020603050405020304" charset="0"/>
                <a:cs typeface="Times New Roman" panose="02020603050405020304" charset="0"/>
              </a:rPr>
              <a:t>10.Stakeholder Collaboration:</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Ensure seamless communication and collaboration among stakeholders, including water utilities, local government agencies, technology vendors, and environmental organizations.</a:t>
            </a:r>
            <a:endParaRPr lang="en-US" sz="900" b="0" i="0" dirty="0">
              <a:effectLst/>
              <a:latin typeface="Times New Roman" panose="02020603050405020304" charset="0"/>
              <a:cs typeface="Times New Roman" panose="02020603050405020304" charset="0"/>
            </a:endParaRPr>
          </a:p>
          <a:p>
            <a:pPr algn="l"/>
            <a:r>
              <a:rPr lang="en-US" sz="900" b="1" i="0" dirty="0">
                <a:effectLst/>
                <a:latin typeface="Times New Roman" panose="02020603050405020304" charset="0"/>
                <a:cs typeface="Times New Roman" panose="02020603050405020304" charset="0"/>
              </a:rPr>
              <a:t>11.Security and Data Privacy:</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Implement robust security measures to protect sensitive data.</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Comply with data privacy regulations and guidelines.</a:t>
            </a:r>
            <a:endParaRPr lang="en-US" sz="900" b="0" i="0" dirty="0">
              <a:effectLst/>
              <a:latin typeface="Times New Roman" panose="02020603050405020304" charset="0"/>
              <a:cs typeface="Times New Roman" panose="02020603050405020304" charset="0"/>
            </a:endParaRPr>
          </a:p>
          <a:p>
            <a:pPr algn="l"/>
            <a:r>
              <a:rPr lang="en-US" sz="900" b="1" i="0" dirty="0">
                <a:effectLst/>
                <a:latin typeface="Times New Roman" panose="02020603050405020304" charset="0"/>
                <a:cs typeface="Times New Roman" panose="02020603050405020304" charset="0"/>
              </a:rPr>
              <a:t>12.Scalability and Flexibility:</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Design the integration architecture to be scalable, allowing for future expansion and addition of new sensors or features.</a:t>
            </a:r>
            <a:endParaRPr lang="en-US" sz="900" b="0" i="0" dirty="0">
              <a:effectLst/>
              <a:latin typeface="Times New Roman" panose="02020603050405020304" charset="0"/>
              <a:cs typeface="Times New Roman" panose="02020603050405020304" charset="0"/>
            </a:endParaRPr>
          </a:p>
          <a:p>
            <a:pPr algn="l"/>
            <a:r>
              <a:rPr lang="en-US" sz="900" b="1" i="0" dirty="0">
                <a:effectLst/>
                <a:latin typeface="Times New Roman" panose="02020603050405020304" charset="0"/>
                <a:cs typeface="Times New Roman" panose="02020603050405020304" charset="0"/>
              </a:rPr>
              <a:t>13.Testing and Optimization:</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Thoroughly test the integrated system to identify and resolve any issues.</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Continuously optimize the system for efficiency and accuracy.</a:t>
            </a:r>
            <a:endParaRPr lang="en-US" sz="900" b="0" i="0" dirty="0">
              <a:effectLst/>
              <a:latin typeface="Times New Roman" panose="02020603050405020304" charset="0"/>
              <a:cs typeface="Times New Roman" panose="02020603050405020304" charset="0"/>
            </a:endParaRPr>
          </a:p>
          <a:p>
            <a:pPr algn="l"/>
            <a:r>
              <a:rPr lang="en-US" sz="900" b="1" i="0">
                <a:effectLst/>
                <a:latin typeface="Times New Roman" panose="02020603050405020304" charset="0"/>
                <a:cs typeface="Times New Roman" panose="02020603050405020304" charset="0"/>
              </a:rPr>
              <a:t>14.Training </a:t>
            </a:r>
            <a:r>
              <a:rPr lang="en-US" sz="900" b="1" i="0" dirty="0">
                <a:effectLst/>
                <a:latin typeface="Times New Roman" panose="02020603050405020304" charset="0"/>
                <a:cs typeface="Times New Roman" panose="02020603050405020304" charset="0"/>
              </a:rPr>
              <a:t>and Support:</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Provide training to users and operators on how to effectively use and maintain the system.</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Offer ongoing technical support and updates.</a:t>
            </a:r>
            <a:endParaRPr lang="en-US" sz="900" b="0" i="0" dirty="0">
              <a:effectLst/>
              <a:latin typeface="Times New Roman" panose="02020603050405020304" charset="0"/>
              <a:cs typeface="Times New Roman" panose="02020603050405020304" charset="0"/>
            </a:endParaRPr>
          </a:p>
          <a:p>
            <a:pPr algn="l"/>
            <a:r>
              <a:rPr lang="en-US" sz="900" b="1" i="0" dirty="0">
                <a:effectLst/>
                <a:latin typeface="Times New Roman" panose="02020603050405020304" charset="0"/>
                <a:cs typeface="Times New Roman" panose="02020603050405020304" charset="0"/>
              </a:rPr>
              <a:t>15.Feedback Mechanism:</a:t>
            </a:r>
            <a:endParaRPr lang="en-US" sz="900" b="0" i="0" dirty="0">
              <a:effectLst/>
              <a:latin typeface="Times New Roman" panose="02020603050405020304" charset="0"/>
              <a:cs typeface="Times New Roman" panose="02020603050405020304" charset="0"/>
            </a:endParaRPr>
          </a:p>
          <a:p>
            <a:pPr marL="742950" lvl="1" indent="-285750" algn="l">
              <a:buFont typeface="+mj-lt"/>
              <a:buAutoNum type="arabicPeriod"/>
            </a:pPr>
            <a:r>
              <a:rPr lang="en-US" sz="900" b="0" i="0" dirty="0">
                <a:effectLst/>
                <a:latin typeface="Times New Roman" panose="02020603050405020304" charset="0"/>
                <a:cs typeface="Times New Roman" panose="02020603050405020304" charset="0"/>
              </a:rPr>
              <a:t>Establish a feedback loop for users and utility operators to report issues or suggest improvements.</a:t>
            </a:r>
            <a:endParaRPr lang="en-US" sz="900" b="0" i="0" dirty="0">
              <a:effectLst/>
              <a:latin typeface="Times New Roman" panose="02020603050405020304" charset="0"/>
              <a:cs typeface="Times New Roman" panose="02020603050405020304" charset="0"/>
            </a:endParaRPr>
          </a:p>
          <a:p>
            <a:endParaRPr lang="en-US" sz="900" dirty="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11"/>
          <p:cNvSpPr>
            <a:spLocks noGrp="1"/>
          </p:cNvSpPr>
          <p:nvPr>
            <p:ph type="title"/>
          </p:nvPr>
        </p:nvSpPr>
        <p:spPr>
          <a:xfrm>
            <a:off x="284419" y="60325"/>
            <a:ext cx="6403462" cy="161583"/>
          </a:xfrm>
        </p:spPr>
        <p:txBody>
          <a:bodyPr/>
          <a:lstStyle/>
          <a:p>
            <a:pPr algn="ctr"/>
            <a:r>
              <a:rPr lang="en-US" sz="1050" dirty="0"/>
              <a:t>INTEGRATION BENEFITS</a:t>
            </a:r>
            <a:endParaRPr lang="en-US" dirty="0"/>
          </a:p>
        </p:txBody>
      </p:sp>
      <p:sp>
        <p:nvSpPr>
          <p:cNvPr id="13" name="TextBox 12"/>
          <p:cNvSpPr txBox="1"/>
          <p:nvPr/>
        </p:nvSpPr>
        <p:spPr>
          <a:xfrm>
            <a:off x="209550" y="517525"/>
            <a:ext cx="6553200" cy="2999740"/>
          </a:xfrm>
          <a:prstGeom prst="rect">
            <a:avLst/>
          </a:prstGeom>
          <a:noFill/>
        </p:spPr>
        <p:txBody>
          <a:bodyPr wrap="square" rtlCol="0">
            <a:spAutoFit/>
          </a:bodyPr>
          <a:lstStyle/>
          <a:p>
            <a:pPr algn="l">
              <a:buFont typeface="+mj-lt"/>
              <a:buAutoNum type="arabicPeriod"/>
            </a:pPr>
            <a:r>
              <a:rPr lang="en-US" sz="1050" b="1" i="0" dirty="0">
                <a:effectLst/>
                <a:latin typeface="Times New Roman" panose="02020603050405020304" charset="0"/>
                <a:cs typeface="Times New Roman" panose="02020603050405020304" charset="0"/>
              </a:rPr>
              <a:t>Efficiency Improvement:</a:t>
            </a:r>
            <a:r>
              <a:rPr lang="en-US" sz="1050" b="0" i="0" dirty="0">
                <a:effectLst/>
                <a:latin typeface="Times New Roman" panose="02020603050405020304" charset="0"/>
                <a:cs typeface="Times New Roman" panose="02020603050405020304" charset="0"/>
              </a:rPr>
              <a:t> Integration streamlines data flow and communication between different parts of the system, reducing manual efforts and increasing operational efficiency. It allows for better coordination and decision-making in managing water resources.</a:t>
            </a:r>
            <a:endParaRPr lang="en-US" sz="1050" b="0" i="0" dirty="0">
              <a:effectLst/>
              <a:latin typeface="Times New Roman" panose="02020603050405020304" charset="0"/>
              <a:cs typeface="Times New Roman" panose="02020603050405020304" charset="0"/>
            </a:endParaRPr>
          </a:p>
          <a:p>
            <a:pPr algn="l">
              <a:buFont typeface="+mj-lt"/>
              <a:buAutoNum type="arabicPeriod"/>
            </a:pPr>
            <a:r>
              <a:rPr lang="en-US" sz="1050" b="1" i="0" dirty="0">
                <a:effectLst/>
                <a:latin typeface="Times New Roman" panose="02020603050405020304" charset="0"/>
                <a:cs typeface="Times New Roman" panose="02020603050405020304" charset="0"/>
              </a:rPr>
              <a:t>Real-Time Insights:</a:t>
            </a:r>
            <a:r>
              <a:rPr lang="en-US" sz="1050" b="0" i="0" dirty="0">
                <a:effectLst/>
                <a:latin typeface="Times New Roman" panose="02020603050405020304" charset="0"/>
                <a:cs typeface="Times New Roman" panose="02020603050405020304" charset="0"/>
              </a:rPr>
              <a:t> By integrating data sources and analytics, stakeholders gain access to real-time information on water distribution, quality, and usage. This enables timely responses to issues like leaks or spikes in demand.</a:t>
            </a:r>
            <a:endParaRPr lang="en-US" sz="1050" b="0" i="0" dirty="0">
              <a:effectLst/>
              <a:latin typeface="Times New Roman" panose="02020603050405020304" charset="0"/>
              <a:cs typeface="Times New Roman" panose="02020603050405020304" charset="0"/>
            </a:endParaRPr>
          </a:p>
          <a:p>
            <a:pPr algn="l">
              <a:buFont typeface="+mj-lt"/>
              <a:buAutoNum type="arabicPeriod"/>
            </a:pPr>
            <a:r>
              <a:rPr lang="en-US" sz="1050" b="1" i="0" dirty="0">
                <a:effectLst/>
                <a:latin typeface="Times New Roman" panose="02020603050405020304" charset="0"/>
                <a:cs typeface="Times New Roman" panose="02020603050405020304" charset="0"/>
              </a:rPr>
              <a:t>Cost Savings:</a:t>
            </a:r>
            <a:r>
              <a:rPr lang="en-US" sz="1050" b="0" i="0" dirty="0">
                <a:effectLst/>
                <a:latin typeface="Times New Roman" panose="02020603050405020304" charset="0"/>
                <a:cs typeface="Times New Roman" panose="02020603050405020304" charset="0"/>
              </a:rPr>
              <a:t> Efficient water distribution and timely leak detection result in reduced water wastage, which can lead to substantial cost savings for water utilities. Optimization also reduces energy consumption and maintenance costs.</a:t>
            </a:r>
            <a:endParaRPr lang="en-US" sz="1050" b="0" i="0" dirty="0">
              <a:effectLst/>
              <a:latin typeface="Times New Roman" panose="02020603050405020304" charset="0"/>
              <a:cs typeface="Times New Roman" panose="02020603050405020304" charset="0"/>
            </a:endParaRPr>
          </a:p>
          <a:p>
            <a:pPr algn="l">
              <a:buFont typeface="+mj-lt"/>
              <a:buAutoNum type="arabicPeriod"/>
            </a:pPr>
            <a:r>
              <a:rPr lang="en-US" sz="1050" b="1" i="0" dirty="0">
                <a:effectLst/>
                <a:latin typeface="Times New Roman" panose="02020603050405020304" charset="0"/>
                <a:cs typeface="Times New Roman" panose="02020603050405020304" charset="0"/>
              </a:rPr>
              <a:t>Enhanced Sustainability:</a:t>
            </a:r>
            <a:r>
              <a:rPr lang="en-US" sz="1050" b="0" i="0" dirty="0">
                <a:effectLst/>
                <a:latin typeface="Times New Roman" panose="02020603050405020304" charset="0"/>
                <a:cs typeface="Times New Roman" panose="02020603050405020304" charset="0"/>
              </a:rPr>
              <a:t> Integration enables better control over water resources, promoting sustainable usage and conservation. It supports the long-term viability of water supplies, benefiting both current and future generations.</a:t>
            </a:r>
            <a:endParaRPr lang="en-US" sz="1050" b="0" i="0" dirty="0">
              <a:effectLst/>
              <a:latin typeface="Times New Roman" panose="02020603050405020304" charset="0"/>
              <a:cs typeface="Times New Roman" panose="02020603050405020304" charset="0"/>
            </a:endParaRPr>
          </a:p>
          <a:p>
            <a:pPr algn="l">
              <a:buFont typeface="+mj-lt"/>
              <a:buAutoNum type="arabicPeriod"/>
            </a:pPr>
            <a:r>
              <a:rPr lang="en-US" sz="1050" b="1" i="0" dirty="0">
                <a:effectLst/>
                <a:latin typeface="Times New Roman" panose="02020603050405020304" charset="0"/>
                <a:cs typeface="Times New Roman" panose="02020603050405020304" charset="0"/>
              </a:rPr>
              <a:t>Improved Water Quality:</a:t>
            </a:r>
            <a:r>
              <a:rPr lang="en-US" sz="1050" b="0" i="0" dirty="0">
                <a:effectLst/>
                <a:latin typeface="Times New Roman" panose="02020603050405020304" charset="0"/>
                <a:cs typeface="Times New Roman" panose="02020603050405020304" charset="0"/>
              </a:rPr>
              <a:t> Integration allows for continuous monitoring of water quality parameters, helping to maintain safe and clean drinking water. Quick detection of contaminants or deviations from quality standards leads to faster remediation actions.</a:t>
            </a:r>
            <a:endParaRPr lang="en-US" sz="1050" b="0" i="0" dirty="0">
              <a:effectLst/>
              <a:latin typeface="Times New Roman" panose="02020603050405020304" charset="0"/>
              <a:cs typeface="Times New Roman" panose="02020603050405020304" charset="0"/>
            </a:endParaRPr>
          </a:p>
          <a:p>
            <a:pPr algn="l">
              <a:buFont typeface="+mj-lt"/>
              <a:buAutoNum type="arabicPeriod"/>
            </a:pPr>
            <a:r>
              <a:rPr lang="en-US" sz="1050" b="1" i="0" dirty="0">
                <a:effectLst/>
                <a:latin typeface="Times New Roman" panose="02020603050405020304" charset="0"/>
                <a:cs typeface="Times New Roman" panose="02020603050405020304" charset="0"/>
              </a:rPr>
              <a:t>Consumer Engagement:</a:t>
            </a:r>
            <a:r>
              <a:rPr lang="en-US" sz="1050" b="0" i="0" dirty="0">
                <a:effectLst/>
                <a:latin typeface="Times New Roman" panose="02020603050405020304" charset="0"/>
                <a:cs typeface="Times New Roman" panose="02020603050405020304" charset="0"/>
              </a:rPr>
              <a:t> Integrated systems often include user-friendly apps that provide consumers with real-time data on their water usage. This engagement encourages responsible water consumption and empowers consumers to make informed decisions.</a:t>
            </a:r>
            <a:endParaRPr lang="en-US" sz="1050" b="0" i="0" dirty="0">
              <a:effectLst/>
              <a:latin typeface="Times New Roman" panose="02020603050405020304" charset="0"/>
              <a:cs typeface="Times New Roman" panose="02020603050405020304" charset="0"/>
            </a:endParaRPr>
          </a:p>
          <a:p>
            <a:pPr algn="l">
              <a:buFont typeface="+mj-lt"/>
              <a:buAutoNum type="arabicPeriod"/>
            </a:pPr>
            <a:r>
              <a:rPr lang="en-US" sz="1050" b="1" i="0" dirty="0">
                <a:effectLst/>
                <a:latin typeface="Times New Roman" panose="02020603050405020304" charset="0"/>
                <a:cs typeface="Times New Roman" panose="02020603050405020304" charset="0"/>
              </a:rPr>
              <a:t>Reduced Downtime:</a:t>
            </a:r>
            <a:r>
              <a:rPr lang="en-US" sz="1050" b="0" i="0" dirty="0">
                <a:effectLst/>
                <a:latin typeface="Times New Roman" panose="02020603050405020304" charset="0"/>
                <a:cs typeface="Times New Roman" panose="02020603050405020304" charset="0"/>
              </a:rPr>
              <a:t> Integration facilitates proactive maintenance and repair of water infrastructure. Quick response to leaks and other issues minimizes service disruptions, ensuring uninterrupted water supply to communities</a:t>
            </a:r>
            <a:endParaRPr lang="en-US" sz="1050" b="0" i="0" dirty="0">
              <a:effectLst/>
              <a:latin typeface="Times New Roman" panose="02020603050405020304" charset="0"/>
              <a:cs typeface="Times New Roman" panose="02020603050405020304" charset="0"/>
            </a:endParaRPr>
          </a:p>
          <a:p>
            <a:endParaRPr lang="en-US" sz="1050"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62150" y="136525"/>
            <a:ext cx="2624455" cy="196849"/>
          </a:xfrm>
          <a:prstGeom prst="rect">
            <a:avLst/>
          </a:prstGeom>
        </p:spPr>
        <p:txBody>
          <a:bodyPr vert="horz" wrap="square" lIns="0" tIns="12065" rIns="0" bIns="0" rtlCol="0">
            <a:spAutoFit/>
          </a:bodyPr>
          <a:lstStyle/>
          <a:p>
            <a:pPr marL="12700" algn="ctr">
              <a:lnSpc>
                <a:spcPct val="100000"/>
              </a:lnSpc>
              <a:spcBef>
                <a:spcPts val="95"/>
              </a:spcBef>
            </a:pPr>
            <a:r>
              <a:rPr lang="en-US" sz="1200" dirty="0"/>
              <a:t>INTEGRATION BENEFITS</a:t>
            </a:r>
            <a:endParaRPr sz="1200" dirty="0"/>
          </a:p>
        </p:txBody>
      </p:sp>
      <p:sp>
        <p:nvSpPr>
          <p:cNvPr id="8" name="TextBox 7"/>
          <p:cNvSpPr txBox="1"/>
          <p:nvPr/>
        </p:nvSpPr>
        <p:spPr>
          <a:xfrm>
            <a:off x="209550" y="669925"/>
            <a:ext cx="6553200" cy="2861310"/>
          </a:xfrm>
          <a:prstGeom prst="rect">
            <a:avLst/>
          </a:prstGeom>
          <a:noFill/>
        </p:spPr>
        <p:txBody>
          <a:bodyPr wrap="square" rtlCol="0">
            <a:spAutoFit/>
          </a:bodyPr>
          <a:lstStyle/>
          <a:p>
            <a:pPr algn="l"/>
            <a:r>
              <a:rPr lang="en-US" sz="1200" b="1" i="0" dirty="0">
                <a:effectLst/>
                <a:latin typeface="Times New Roman" panose="02020603050405020304" charset="0"/>
                <a:cs typeface="Times New Roman" panose="02020603050405020304" charset="0"/>
              </a:rPr>
              <a:t>8.Data-Driven Decision-Making:</a:t>
            </a:r>
            <a:r>
              <a:rPr lang="en-US" sz="1200" b="0" i="0" dirty="0">
                <a:effectLst/>
                <a:latin typeface="Times New Roman" panose="02020603050405020304" charset="0"/>
                <a:cs typeface="Times New Roman" panose="02020603050405020304" charset="0"/>
              </a:rPr>
              <a:t> Integration provides decision-makers with comprehensive data for informed choices in resource allocation, infrastructure planning, and sustainability initiatives.</a:t>
            </a:r>
            <a:endParaRPr lang="en-US" sz="1200" b="0" i="0" dirty="0">
              <a:effectLst/>
              <a:latin typeface="Times New Roman" panose="02020603050405020304" charset="0"/>
              <a:cs typeface="Times New Roman" panose="02020603050405020304" charset="0"/>
            </a:endParaRPr>
          </a:p>
          <a:p>
            <a:pPr algn="l"/>
            <a:r>
              <a:rPr lang="en-US" sz="1200" b="1" i="0" dirty="0">
                <a:effectLst/>
                <a:latin typeface="Times New Roman" panose="02020603050405020304" charset="0"/>
                <a:cs typeface="Times New Roman" panose="02020603050405020304" charset="0"/>
              </a:rPr>
              <a:t>9.Environmental Impact:</a:t>
            </a:r>
            <a:r>
              <a:rPr lang="en-US" sz="1200" b="0" i="0" dirty="0">
                <a:effectLst/>
                <a:latin typeface="Times New Roman" panose="02020603050405020304" charset="0"/>
                <a:cs typeface="Times New Roman" panose="02020603050405020304" charset="0"/>
              </a:rPr>
              <a:t> By reducing water wastage and promoting conservation, integrated systems contribute to a smaller environmental footprint. This is crucial for mitigating the impact of water scarcity and climate change.</a:t>
            </a:r>
            <a:endParaRPr lang="en-US" sz="1200" b="0" i="0" dirty="0">
              <a:effectLst/>
              <a:latin typeface="Times New Roman" panose="02020603050405020304" charset="0"/>
              <a:cs typeface="Times New Roman" panose="02020603050405020304" charset="0"/>
            </a:endParaRPr>
          </a:p>
          <a:p>
            <a:pPr algn="l"/>
            <a:r>
              <a:rPr lang="en-US" sz="1200" b="1" i="0" dirty="0">
                <a:effectLst/>
                <a:latin typeface="Times New Roman" panose="02020603050405020304" charset="0"/>
                <a:cs typeface="Times New Roman" panose="02020603050405020304" charset="0"/>
              </a:rPr>
              <a:t>10.Regulatory Compliance:</a:t>
            </a:r>
            <a:r>
              <a:rPr lang="en-US" sz="1200" b="0" i="0" dirty="0">
                <a:effectLst/>
                <a:latin typeface="Times New Roman" panose="02020603050405020304" charset="0"/>
                <a:cs typeface="Times New Roman" panose="02020603050405020304" charset="0"/>
              </a:rPr>
              <a:t> Integration helps water utilities and authorities meet regulatory requirements and reporting obligations related to water quality and distribution, reducing the risk of non-compliance.</a:t>
            </a:r>
            <a:endParaRPr lang="en-US" sz="1200" b="0" i="0" dirty="0">
              <a:effectLst/>
              <a:latin typeface="Times New Roman" panose="02020603050405020304" charset="0"/>
              <a:cs typeface="Times New Roman" panose="02020603050405020304" charset="0"/>
            </a:endParaRPr>
          </a:p>
          <a:p>
            <a:pPr algn="l"/>
            <a:r>
              <a:rPr lang="en-US" sz="1200" b="1" i="0" dirty="0">
                <a:effectLst/>
                <a:latin typeface="Times New Roman" panose="02020603050405020304" charset="0"/>
                <a:cs typeface="Times New Roman" panose="02020603050405020304" charset="0"/>
              </a:rPr>
              <a:t>11.Scalability:</a:t>
            </a:r>
            <a:r>
              <a:rPr lang="en-US" sz="1200" b="0" i="0" dirty="0">
                <a:effectLst/>
                <a:latin typeface="Times New Roman" panose="02020603050405020304" charset="0"/>
                <a:cs typeface="Times New Roman" panose="02020603050405020304" charset="0"/>
              </a:rPr>
              <a:t> Integrated systems are often designed with scalability in mind, allowing for the addition of new sensors, features, or geographic expansion as needed.</a:t>
            </a:r>
            <a:endParaRPr lang="en-US" sz="1200" b="0" i="0" dirty="0">
              <a:effectLst/>
              <a:latin typeface="Times New Roman" panose="02020603050405020304" charset="0"/>
              <a:cs typeface="Times New Roman" panose="02020603050405020304" charset="0"/>
            </a:endParaRPr>
          </a:p>
          <a:p>
            <a:pPr algn="l"/>
            <a:r>
              <a:rPr lang="en-US" sz="1200" b="1" i="0" dirty="0">
                <a:effectLst/>
                <a:latin typeface="Times New Roman" panose="02020603050405020304" charset="0"/>
                <a:cs typeface="Times New Roman" panose="02020603050405020304" charset="0"/>
              </a:rPr>
              <a:t>12.Operational Resilience:</a:t>
            </a:r>
            <a:r>
              <a:rPr lang="en-US" sz="1200" b="0" i="0" dirty="0">
                <a:effectLst/>
                <a:latin typeface="Times New Roman" panose="02020603050405020304" charset="0"/>
                <a:cs typeface="Times New Roman" panose="02020603050405020304" charset="0"/>
              </a:rPr>
              <a:t> Integration can enhance the resilience of water infrastructure by providing redundancy, automated failover, and backup systems in case of emergencies or system failures.</a:t>
            </a:r>
            <a:endParaRPr lang="en-US" sz="1200" b="0" i="0" dirty="0">
              <a:effectLst/>
              <a:latin typeface="Times New Roman" panose="02020603050405020304" charset="0"/>
              <a:cs typeface="Times New Roman" panose="02020603050405020304" charset="0"/>
            </a:endParaRPr>
          </a:p>
          <a:p>
            <a:pPr algn="l"/>
            <a:r>
              <a:rPr lang="en-US" sz="1200" b="1" i="0" dirty="0">
                <a:effectLst/>
                <a:latin typeface="Times New Roman" panose="02020603050405020304" charset="0"/>
                <a:cs typeface="Times New Roman" panose="02020603050405020304" charset="0"/>
              </a:rPr>
              <a:t>13.Data Security:</a:t>
            </a:r>
            <a:r>
              <a:rPr lang="en-US" sz="1200" b="0" i="0" dirty="0">
                <a:effectLst/>
                <a:latin typeface="Times New Roman" panose="02020603050405020304" charset="0"/>
                <a:cs typeface="Times New Roman" panose="02020603050405020304" charset="0"/>
              </a:rPr>
              <a:t> Integration also includes robust security measures to protect sensitive water-related data, ensuring it remains confidential and secure.</a:t>
            </a:r>
            <a:endParaRPr lang="en-US" sz="1200" b="0" i="0" dirty="0">
              <a:effectLst/>
              <a:latin typeface="Times New Roman" panose="02020603050405020304" charset="0"/>
              <a:cs typeface="Times New Roman" panose="02020603050405020304" charset="0"/>
            </a:endParaRPr>
          </a:p>
          <a:p>
            <a:endParaRPr lang="en-US" sz="1200" dirty="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711" y="3571"/>
            <a:ext cx="6951980" cy="130175"/>
          </a:xfrm>
          <a:custGeom>
            <a:avLst/>
            <a:gdLst/>
            <a:ahLst/>
            <a:cxnLst/>
            <a:rect l="l" t="t" r="r" b="b"/>
            <a:pathLst>
              <a:path w="6951980" h="130175">
                <a:moveTo>
                  <a:pt x="0" y="0"/>
                </a:moveTo>
                <a:lnTo>
                  <a:pt x="6951463" y="0"/>
                </a:lnTo>
                <a:lnTo>
                  <a:pt x="6951463" y="129778"/>
                </a:lnTo>
                <a:lnTo>
                  <a:pt x="0" y="129778"/>
                </a:lnTo>
                <a:lnTo>
                  <a:pt x="0" y="0"/>
                </a:lnTo>
                <a:close/>
              </a:path>
            </a:pathLst>
          </a:custGeom>
          <a:solidFill>
            <a:srgbClr val="DA7462"/>
          </a:solidFill>
        </p:spPr>
        <p:txBody>
          <a:bodyPr wrap="square" lIns="0" tIns="0" rIns="0" bIns="0" rtlCol="0"/>
          <a:lstStyle/>
          <a:p/>
        </p:txBody>
      </p:sp>
      <p:sp>
        <p:nvSpPr>
          <p:cNvPr id="3" name="object 3"/>
          <p:cNvSpPr/>
          <p:nvPr/>
        </p:nvSpPr>
        <p:spPr>
          <a:xfrm>
            <a:off x="0" y="3370571"/>
            <a:ext cx="134620" cy="546735"/>
          </a:xfrm>
          <a:custGeom>
            <a:avLst/>
            <a:gdLst/>
            <a:ahLst/>
            <a:cxnLst/>
            <a:rect l="l" t="t" r="r" b="b"/>
            <a:pathLst>
              <a:path w="134620" h="546735">
                <a:moveTo>
                  <a:pt x="134094" y="546348"/>
                </a:moveTo>
                <a:lnTo>
                  <a:pt x="0" y="546348"/>
                </a:lnTo>
                <a:lnTo>
                  <a:pt x="0" y="0"/>
                </a:lnTo>
                <a:lnTo>
                  <a:pt x="134094" y="0"/>
                </a:lnTo>
                <a:lnTo>
                  <a:pt x="134094" y="546348"/>
                </a:lnTo>
                <a:close/>
              </a:path>
            </a:pathLst>
          </a:custGeom>
          <a:solidFill>
            <a:srgbClr val="DA7462"/>
          </a:solidFill>
        </p:spPr>
        <p:txBody>
          <a:bodyPr wrap="square" lIns="0" tIns="0" rIns="0" bIns="0" rtlCol="0"/>
          <a:lstStyle/>
          <a:p/>
        </p:txBody>
      </p:sp>
      <p:sp>
        <p:nvSpPr>
          <p:cNvPr id="4" name="object 4"/>
          <p:cNvSpPr/>
          <p:nvPr/>
        </p:nvSpPr>
        <p:spPr>
          <a:xfrm>
            <a:off x="6830617" y="3370571"/>
            <a:ext cx="134620" cy="546735"/>
          </a:xfrm>
          <a:custGeom>
            <a:avLst/>
            <a:gdLst/>
            <a:ahLst/>
            <a:cxnLst/>
            <a:rect l="l" t="t" r="r" b="b"/>
            <a:pathLst>
              <a:path w="134620" h="546735">
                <a:moveTo>
                  <a:pt x="134094" y="546348"/>
                </a:moveTo>
                <a:lnTo>
                  <a:pt x="0" y="546348"/>
                </a:lnTo>
                <a:lnTo>
                  <a:pt x="0" y="0"/>
                </a:lnTo>
                <a:lnTo>
                  <a:pt x="134094" y="0"/>
                </a:lnTo>
                <a:lnTo>
                  <a:pt x="134094" y="546348"/>
                </a:lnTo>
                <a:close/>
              </a:path>
            </a:pathLst>
          </a:custGeom>
          <a:solidFill>
            <a:srgbClr val="DA7462"/>
          </a:solidFill>
        </p:spPr>
        <p:txBody>
          <a:bodyPr wrap="square" lIns="0" tIns="0" rIns="0" bIns="0" rtlCol="0"/>
          <a:lstStyle/>
          <a:p/>
        </p:txBody>
      </p:sp>
      <p:sp>
        <p:nvSpPr>
          <p:cNvPr id="5" name="object 5"/>
          <p:cNvSpPr txBox="1">
            <a:spLocks noGrp="1"/>
          </p:cNvSpPr>
          <p:nvPr>
            <p:ph type="title"/>
          </p:nvPr>
        </p:nvSpPr>
        <p:spPr>
          <a:xfrm>
            <a:off x="2756075" y="1041187"/>
            <a:ext cx="1447800" cy="265430"/>
          </a:xfrm>
          <a:prstGeom prst="rect">
            <a:avLst/>
          </a:prstGeom>
        </p:spPr>
        <p:txBody>
          <a:bodyPr vert="horz" wrap="square" lIns="0" tIns="15240" rIns="0" bIns="0" rtlCol="0">
            <a:spAutoFit/>
          </a:bodyPr>
          <a:lstStyle/>
          <a:p>
            <a:pPr marL="12700">
              <a:lnSpc>
                <a:spcPct val="100000"/>
              </a:lnSpc>
              <a:spcBef>
                <a:spcPts val="120"/>
              </a:spcBef>
            </a:pPr>
            <a:r>
              <a:rPr sz="1550" spc="185" dirty="0">
                <a:solidFill>
                  <a:srgbClr val="B65341"/>
                </a:solidFill>
              </a:rPr>
              <a:t>CONCLUSION</a:t>
            </a:r>
            <a:endParaRPr sz="1550"/>
          </a:p>
        </p:txBody>
      </p:sp>
      <p:sp>
        <p:nvSpPr>
          <p:cNvPr id="6" name="object 6"/>
          <p:cNvSpPr txBox="1"/>
          <p:nvPr/>
        </p:nvSpPr>
        <p:spPr>
          <a:xfrm>
            <a:off x="1394092" y="1510718"/>
            <a:ext cx="4175125" cy="833119"/>
          </a:xfrm>
          <a:prstGeom prst="rect">
            <a:avLst/>
          </a:prstGeom>
        </p:spPr>
        <p:txBody>
          <a:bodyPr vert="horz" wrap="square" lIns="0" tIns="10795" rIns="0" bIns="0" rtlCol="0">
            <a:spAutoFit/>
          </a:bodyPr>
          <a:lstStyle/>
          <a:p>
            <a:pPr marL="12065" marR="5080" algn="ctr">
              <a:lnSpc>
                <a:spcPct val="101000"/>
              </a:lnSpc>
              <a:spcBef>
                <a:spcPts val="85"/>
              </a:spcBef>
            </a:pPr>
            <a:r>
              <a:rPr sz="1050" spc="-25" dirty="0">
                <a:solidFill>
                  <a:srgbClr val="424242"/>
                </a:solidFill>
                <a:latin typeface="Trebuchet MS" panose="020B0603020202020204"/>
                <a:cs typeface="Trebuchet MS" panose="020B0603020202020204"/>
              </a:rPr>
              <a:t>Smart</a:t>
            </a:r>
            <a:r>
              <a:rPr sz="1050" spc="-85" dirty="0">
                <a:solidFill>
                  <a:srgbClr val="424242"/>
                </a:solidFill>
                <a:latin typeface="Trebuchet MS" panose="020B0603020202020204"/>
                <a:cs typeface="Trebuchet MS" panose="020B0603020202020204"/>
              </a:rPr>
              <a:t> </a:t>
            </a:r>
            <a:r>
              <a:rPr sz="1050" spc="-50" dirty="0">
                <a:solidFill>
                  <a:srgbClr val="424242"/>
                </a:solidFill>
                <a:latin typeface="Trebuchet MS" panose="020B0603020202020204"/>
                <a:cs typeface="Trebuchet MS" panose="020B0603020202020204"/>
              </a:rPr>
              <a:t>water</a:t>
            </a:r>
            <a:r>
              <a:rPr sz="1050" spc="-80" dirty="0">
                <a:solidFill>
                  <a:srgbClr val="424242"/>
                </a:solidFill>
                <a:latin typeface="Trebuchet MS" panose="020B0603020202020204"/>
                <a:cs typeface="Trebuchet MS" panose="020B0603020202020204"/>
              </a:rPr>
              <a:t> </a:t>
            </a:r>
            <a:r>
              <a:rPr sz="1050" spc="-25" dirty="0">
                <a:solidFill>
                  <a:srgbClr val="424242"/>
                </a:solidFill>
                <a:latin typeface="Trebuchet MS" panose="020B0603020202020204"/>
                <a:cs typeface="Trebuchet MS" panose="020B0603020202020204"/>
              </a:rPr>
              <a:t>management</a:t>
            </a:r>
            <a:r>
              <a:rPr sz="1050" spc="-80" dirty="0">
                <a:solidFill>
                  <a:srgbClr val="424242"/>
                </a:solidFill>
                <a:latin typeface="Trebuchet MS" panose="020B0603020202020204"/>
                <a:cs typeface="Trebuchet MS" panose="020B0603020202020204"/>
              </a:rPr>
              <a:t> </a:t>
            </a:r>
            <a:r>
              <a:rPr sz="1050" spc="15" dirty="0">
                <a:solidFill>
                  <a:srgbClr val="424242"/>
                </a:solidFill>
                <a:latin typeface="Trebuchet MS" panose="020B0603020202020204"/>
                <a:cs typeface="Trebuchet MS" panose="020B0603020202020204"/>
              </a:rPr>
              <a:t>is</a:t>
            </a:r>
            <a:r>
              <a:rPr sz="1050" spc="-80" dirty="0">
                <a:solidFill>
                  <a:srgbClr val="424242"/>
                </a:solidFill>
                <a:latin typeface="Trebuchet MS" panose="020B0603020202020204"/>
                <a:cs typeface="Trebuchet MS" panose="020B0603020202020204"/>
              </a:rPr>
              <a:t> </a:t>
            </a:r>
            <a:r>
              <a:rPr sz="1050" spc="-20" dirty="0">
                <a:solidFill>
                  <a:srgbClr val="424242"/>
                </a:solidFill>
                <a:latin typeface="Trebuchet MS" panose="020B0603020202020204"/>
                <a:cs typeface="Trebuchet MS" panose="020B0603020202020204"/>
              </a:rPr>
              <a:t>essential</a:t>
            </a:r>
            <a:r>
              <a:rPr sz="1050" spc="-85" dirty="0">
                <a:solidFill>
                  <a:srgbClr val="424242"/>
                </a:solidFill>
                <a:latin typeface="Trebuchet MS" panose="020B0603020202020204"/>
                <a:cs typeface="Trebuchet MS" panose="020B0603020202020204"/>
              </a:rPr>
              <a:t> </a:t>
            </a:r>
            <a:r>
              <a:rPr sz="1050" spc="-60" dirty="0">
                <a:solidFill>
                  <a:srgbClr val="424242"/>
                </a:solidFill>
                <a:latin typeface="Trebuchet MS" panose="020B0603020202020204"/>
                <a:cs typeface="Trebuchet MS" panose="020B0603020202020204"/>
              </a:rPr>
              <a:t>for</a:t>
            </a:r>
            <a:r>
              <a:rPr sz="1050" spc="-80" dirty="0">
                <a:solidFill>
                  <a:srgbClr val="424242"/>
                </a:solidFill>
                <a:latin typeface="Trebuchet MS" panose="020B0603020202020204"/>
                <a:cs typeface="Trebuchet MS" panose="020B0603020202020204"/>
              </a:rPr>
              <a:t> </a:t>
            </a:r>
            <a:r>
              <a:rPr sz="1050" spc="-25" dirty="0">
                <a:solidFill>
                  <a:srgbClr val="424242"/>
                </a:solidFill>
                <a:latin typeface="Trebuchet MS" panose="020B0603020202020204"/>
                <a:cs typeface="Trebuchet MS" panose="020B0603020202020204"/>
              </a:rPr>
              <a:t>creating</a:t>
            </a:r>
            <a:r>
              <a:rPr sz="1050" spc="-80" dirty="0">
                <a:solidFill>
                  <a:srgbClr val="424242"/>
                </a:solidFill>
                <a:latin typeface="Trebuchet MS" panose="020B0603020202020204"/>
                <a:cs typeface="Trebuchet MS" panose="020B0603020202020204"/>
              </a:rPr>
              <a:t> </a:t>
            </a:r>
            <a:r>
              <a:rPr sz="1050" spc="35" dirty="0">
                <a:solidFill>
                  <a:srgbClr val="424242"/>
                </a:solidFill>
                <a:latin typeface="Trebuchet MS" panose="020B0603020202020204"/>
                <a:cs typeface="Trebuchet MS" panose="020B0603020202020204"/>
              </a:rPr>
              <a:t>a</a:t>
            </a:r>
            <a:r>
              <a:rPr sz="1050" spc="-80" dirty="0">
                <a:solidFill>
                  <a:srgbClr val="424242"/>
                </a:solidFill>
                <a:latin typeface="Trebuchet MS" panose="020B0603020202020204"/>
                <a:cs typeface="Trebuchet MS" panose="020B0603020202020204"/>
              </a:rPr>
              <a:t> </a:t>
            </a:r>
            <a:r>
              <a:rPr sz="1050" spc="-15" dirty="0">
                <a:solidFill>
                  <a:srgbClr val="424242"/>
                </a:solidFill>
                <a:latin typeface="Trebuchet MS" panose="020B0603020202020204"/>
                <a:cs typeface="Trebuchet MS" panose="020B0603020202020204"/>
              </a:rPr>
              <a:t>sustainable</a:t>
            </a:r>
            <a:r>
              <a:rPr sz="1050" spc="-85" dirty="0">
                <a:solidFill>
                  <a:srgbClr val="424242"/>
                </a:solidFill>
                <a:latin typeface="Trebuchet MS" panose="020B0603020202020204"/>
                <a:cs typeface="Trebuchet MS" panose="020B0603020202020204"/>
              </a:rPr>
              <a:t> </a:t>
            </a:r>
            <a:r>
              <a:rPr sz="1050" spc="-60" dirty="0">
                <a:solidFill>
                  <a:srgbClr val="424242"/>
                </a:solidFill>
                <a:latin typeface="Trebuchet MS" panose="020B0603020202020204"/>
                <a:cs typeface="Trebuchet MS" panose="020B0603020202020204"/>
              </a:rPr>
              <a:t>future</a:t>
            </a:r>
            <a:r>
              <a:rPr sz="1050" spc="-80" dirty="0">
                <a:solidFill>
                  <a:srgbClr val="424242"/>
                </a:solidFill>
                <a:latin typeface="Trebuchet MS" panose="020B0603020202020204"/>
                <a:cs typeface="Trebuchet MS" panose="020B0603020202020204"/>
              </a:rPr>
              <a:t> </a:t>
            </a:r>
            <a:r>
              <a:rPr sz="1050" spc="-60" dirty="0">
                <a:solidFill>
                  <a:srgbClr val="424242"/>
                </a:solidFill>
                <a:latin typeface="Trebuchet MS" panose="020B0603020202020204"/>
                <a:cs typeface="Trebuchet MS" panose="020B0603020202020204"/>
              </a:rPr>
              <a:t>for </a:t>
            </a:r>
            <a:r>
              <a:rPr sz="1050" spc="-55" dirty="0">
                <a:solidFill>
                  <a:srgbClr val="424242"/>
                </a:solidFill>
                <a:latin typeface="Trebuchet MS" panose="020B0603020202020204"/>
                <a:cs typeface="Trebuchet MS" panose="020B0603020202020204"/>
              </a:rPr>
              <a:t> </a:t>
            </a:r>
            <a:r>
              <a:rPr sz="1050" spc="-30" dirty="0">
                <a:solidFill>
                  <a:srgbClr val="424242"/>
                </a:solidFill>
                <a:latin typeface="Trebuchet MS" panose="020B0603020202020204"/>
                <a:cs typeface="Trebuchet MS" panose="020B0603020202020204"/>
              </a:rPr>
              <a:t>our </a:t>
            </a:r>
            <a:r>
              <a:rPr sz="1050" spc="-60" dirty="0">
                <a:solidFill>
                  <a:srgbClr val="424242"/>
                </a:solidFill>
                <a:latin typeface="Trebuchet MS" panose="020B0603020202020204"/>
                <a:cs typeface="Trebuchet MS" panose="020B0603020202020204"/>
              </a:rPr>
              <a:t>planet. </a:t>
            </a:r>
            <a:r>
              <a:rPr sz="1050" spc="-25" dirty="0">
                <a:solidFill>
                  <a:srgbClr val="424242"/>
                </a:solidFill>
                <a:latin typeface="Trebuchet MS" panose="020B0603020202020204"/>
                <a:cs typeface="Trebuchet MS" panose="020B0603020202020204"/>
              </a:rPr>
              <a:t>By </a:t>
            </a:r>
            <a:r>
              <a:rPr sz="1050" spc="10" dirty="0">
                <a:solidFill>
                  <a:srgbClr val="424242"/>
                </a:solidFill>
                <a:latin typeface="Trebuchet MS" panose="020B0603020202020204"/>
                <a:cs typeface="Trebuchet MS" panose="020B0603020202020204"/>
              </a:rPr>
              <a:t>using </a:t>
            </a:r>
            <a:r>
              <a:rPr sz="1050" spc="-40" dirty="0">
                <a:solidFill>
                  <a:srgbClr val="424242"/>
                </a:solidFill>
                <a:latin typeface="Trebuchet MS" panose="020B0603020202020204"/>
                <a:cs typeface="Trebuchet MS" panose="020B0603020202020204"/>
              </a:rPr>
              <a:t>innovative </a:t>
            </a:r>
            <a:r>
              <a:rPr sz="1050" spc="-5" dirty="0">
                <a:solidFill>
                  <a:srgbClr val="424242"/>
                </a:solidFill>
                <a:latin typeface="Trebuchet MS" panose="020B0603020202020204"/>
                <a:cs typeface="Trebuchet MS" panose="020B0603020202020204"/>
              </a:rPr>
              <a:t>approaches </a:t>
            </a:r>
            <a:r>
              <a:rPr sz="1050" dirty="0">
                <a:solidFill>
                  <a:srgbClr val="424242"/>
                </a:solidFill>
                <a:latin typeface="Trebuchet MS" panose="020B0603020202020204"/>
                <a:cs typeface="Trebuchet MS" panose="020B0603020202020204"/>
              </a:rPr>
              <a:t>such </a:t>
            </a:r>
            <a:r>
              <a:rPr sz="1050" spc="45" dirty="0">
                <a:solidFill>
                  <a:srgbClr val="424242"/>
                </a:solidFill>
                <a:latin typeface="Trebuchet MS" panose="020B0603020202020204"/>
                <a:cs typeface="Trebuchet MS" panose="020B0603020202020204"/>
              </a:rPr>
              <a:t>as </a:t>
            </a:r>
            <a:r>
              <a:rPr sz="1050" spc="-35" dirty="0">
                <a:solidFill>
                  <a:srgbClr val="424242"/>
                </a:solidFill>
                <a:latin typeface="Trebuchet MS" panose="020B0603020202020204"/>
                <a:cs typeface="Trebuchet MS" panose="020B0603020202020204"/>
              </a:rPr>
              <a:t>smart </a:t>
            </a:r>
            <a:r>
              <a:rPr sz="1050" spc="-50" dirty="0">
                <a:solidFill>
                  <a:srgbClr val="424242"/>
                </a:solidFill>
                <a:latin typeface="Trebuchet MS" panose="020B0603020202020204"/>
                <a:cs typeface="Trebuchet MS" panose="020B0603020202020204"/>
              </a:rPr>
              <a:t>water </a:t>
            </a:r>
            <a:r>
              <a:rPr sz="1050" spc="-65" dirty="0">
                <a:solidFill>
                  <a:srgbClr val="424242"/>
                </a:solidFill>
                <a:latin typeface="Trebuchet MS" panose="020B0603020202020204"/>
                <a:cs typeface="Trebuchet MS" panose="020B0603020202020204"/>
              </a:rPr>
              <a:t>meters, </a:t>
            </a:r>
            <a:r>
              <a:rPr sz="1050" spc="-60" dirty="0">
                <a:solidFill>
                  <a:srgbClr val="424242"/>
                </a:solidFill>
                <a:latin typeface="Trebuchet MS" panose="020B0603020202020204"/>
                <a:cs typeface="Trebuchet MS" panose="020B0603020202020204"/>
              </a:rPr>
              <a:t> </a:t>
            </a:r>
            <a:r>
              <a:rPr sz="1050" spc="-35" dirty="0">
                <a:solidFill>
                  <a:srgbClr val="424242"/>
                </a:solidFill>
                <a:latin typeface="Trebuchet MS" panose="020B0603020202020204"/>
                <a:cs typeface="Trebuchet MS" panose="020B0603020202020204"/>
              </a:rPr>
              <a:t>rainwater harvesting, </a:t>
            </a:r>
            <a:r>
              <a:rPr sz="1050" spc="5" dirty="0">
                <a:solidFill>
                  <a:srgbClr val="424242"/>
                </a:solidFill>
                <a:latin typeface="Trebuchet MS" panose="020B0603020202020204"/>
                <a:cs typeface="Trebuchet MS" panose="020B0603020202020204"/>
              </a:rPr>
              <a:t>and </a:t>
            </a:r>
            <a:r>
              <a:rPr sz="1050" spc="-40" dirty="0">
                <a:solidFill>
                  <a:srgbClr val="424242"/>
                </a:solidFill>
                <a:latin typeface="Trebuchet MS" panose="020B0603020202020204"/>
                <a:cs typeface="Trebuchet MS" panose="020B0603020202020204"/>
              </a:rPr>
              <a:t>greywater </a:t>
            </a:r>
            <a:r>
              <a:rPr sz="1050" spc="-45" dirty="0">
                <a:solidFill>
                  <a:srgbClr val="424242"/>
                </a:solidFill>
                <a:latin typeface="Trebuchet MS" panose="020B0603020202020204"/>
                <a:cs typeface="Trebuchet MS" panose="020B0603020202020204"/>
              </a:rPr>
              <a:t>recycling, </a:t>
            </a:r>
            <a:r>
              <a:rPr sz="1050" spc="-40" dirty="0">
                <a:solidFill>
                  <a:srgbClr val="424242"/>
                </a:solidFill>
                <a:latin typeface="Trebuchet MS" panose="020B0603020202020204"/>
                <a:cs typeface="Trebuchet MS" panose="020B0603020202020204"/>
              </a:rPr>
              <a:t>we </a:t>
            </a:r>
            <a:r>
              <a:rPr sz="1050" spc="-5" dirty="0">
                <a:solidFill>
                  <a:srgbClr val="424242"/>
                </a:solidFill>
                <a:latin typeface="Trebuchet MS" panose="020B0603020202020204"/>
                <a:cs typeface="Trebuchet MS" panose="020B0603020202020204"/>
              </a:rPr>
              <a:t>can </a:t>
            </a:r>
            <a:r>
              <a:rPr sz="1050" spc="-35" dirty="0">
                <a:solidFill>
                  <a:srgbClr val="424242"/>
                </a:solidFill>
                <a:latin typeface="Trebuchet MS" panose="020B0603020202020204"/>
                <a:cs typeface="Trebuchet MS" panose="020B0603020202020204"/>
              </a:rPr>
              <a:t>make </a:t>
            </a:r>
            <a:r>
              <a:rPr sz="1050" spc="-50" dirty="0">
                <a:solidFill>
                  <a:srgbClr val="424242"/>
                </a:solidFill>
                <a:latin typeface="Trebuchet MS" panose="020B0603020202020204"/>
                <a:cs typeface="Trebuchet MS" panose="020B0603020202020204"/>
              </a:rPr>
              <a:t>every </a:t>
            </a:r>
            <a:r>
              <a:rPr sz="1050" spc="-20" dirty="0">
                <a:solidFill>
                  <a:srgbClr val="424242"/>
                </a:solidFill>
                <a:latin typeface="Trebuchet MS" panose="020B0603020202020204"/>
                <a:cs typeface="Trebuchet MS" panose="020B0603020202020204"/>
              </a:rPr>
              <a:t>drop </a:t>
            </a:r>
            <a:r>
              <a:rPr sz="1050" spc="-15" dirty="0">
                <a:solidFill>
                  <a:srgbClr val="424242"/>
                </a:solidFill>
                <a:latin typeface="Trebuchet MS" panose="020B0603020202020204"/>
                <a:cs typeface="Trebuchet MS" panose="020B0603020202020204"/>
              </a:rPr>
              <a:t> </a:t>
            </a:r>
            <a:r>
              <a:rPr sz="1050" spc="-65" dirty="0">
                <a:solidFill>
                  <a:srgbClr val="424242"/>
                </a:solidFill>
                <a:latin typeface="Trebuchet MS" panose="020B0603020202020204"/>
                <a:cs typeface="Trebuchet MS" panose="020B0603020202020204"/>
              </a:rPr>
              <a:t>count. </a:t>
            </a:r>
            <a:r>
              <a:rPr sz="1050" spc="-35" dirty="0">
                <a:solidFill>
                  <a:srgbClr val="424242"/>
                </a:solidFill>
                <a:latin typeface="Trebuchet MS" panose="020B0603020202020204"/>
                <a:cs typeface="Trebuchet MS" panose="020B0603020202020204"/>
              </a:rPr>
              <a:t>Let's </a:t>
            </a:r>
            <a:r>
              <a:rPr sz="1050" spc="-50" dirty="0">
                <a:solidFill>
                  <a:srgbClr val="424242"/>
                </a:solidFill>
                <a:latin typeface="Trebuchet MS" panose="020B0603020202020204"/>
                <a:cs typeface="Trebuchet MS" panose="020B0603020202020204"/>
              </a:rPr>
              <a:t>work </a:t>
            </a:r>
            <a:r>
              <a:rPr sz="1050" spc="-45" dirty="0">
                <a:solidFill>
                  <a:srgbClr val="424242"/>
                </a:solidFill>
                <a:latin typeface="Trebuchet MS" panose="020B0603020202020204"/>
                <a:cs typeface="Trebuchet MS" panose="020B0603020202020204"/>
              </a:rPr>
              <a:t>together </a:t>
            </a:r>
            <a:r>
              <a:rPr sz="1050" spc="-70" dirty="0">
                <a:solidFill>
                  <a:srgbClr val="424242"/>
                </a:solidFill>
                <a:latin typeface="Trebuchet MS" panose="020B0603020202020204"/>
                <a:cs typeface="Trebuchet MS" panose="020B0603020202020204"/>
              </a:rPr>
              <a:t>to </a:t>
            </a:r>
            <a:r>
              <a:rPr sz="1050" spc="-20" dirty="0">
                <a:solidFill>
                  <a:srgbClr val="424242"/>
                </a:solidFill>
                <a:latin typeface="Trebuchet MS" panose="020B0603020202020204"/>
                <a:cs typeface="Trebuchet MS" panose="020B0603020202020204"/>
              </a:rPr>
              <a:t>conserve </a:t>
            </a:r>
            <a:r>
              <a:rPr sz="1050" spc="-50" dirty="0">
                <a:solidFill>
                  <a:srgbClr val="424242"/>
                </a:solidFill>
                <a:latin typeface="Trebuchet MS" panose="020B0603020202020204"/>
                <a:cs typeface="Trebuchet MS" panose="020B0603020202020204"/>
              </a:rPr>
              <a:t>water </a:t>
            </a:r>
            <a:r>
              <a:rPr sz="1050" spc="5" dirty="0">
                <a:solidFill>
                  <a:srgbClr val="424242"/>
                </a:solidFill>
                <a:latin typeface="Trebuchet MS" panose="020B0603020202020204"/>
                <a:cs typeface="Trebuchet MS" panose="020B0603020202020204"/>
              </a:rPr>
              <a:t>and </a:t>
            </a:r>
            <a:r>
              <a:rPr sz="1050" spc="-40" dirty="0">
                <a:solidFill>
                  <a:srgbClr val="424242"/>
                </a:solidFill>
                <a:latin typeface="Trebuchet MS" panose="020B0603020202020204"/>
                <a:cs typeface="Trebuchet MS" panose="020B0603020202020204"/>
              </a:rPr>
              <a:t>create </a:t>
            </a:r>
            <a:r>
              <a:rPr sz="1050" spc="35" dirty="0">
                <a:solidFill>
                  <a:srgbClr val="424242"/>
                </a:solidFill>
                <a:latin typeface="Trebuchet MS" panose="020B0603020202020204"/>
                <a:cs typeface="Trebuchet MS" panose="020B0603020202020204"/>
              </a:rPr>
              <a:t>a </a:t>
            </a:r>
            <a:r>
              <a:rPr sz="1050" spc="-45" dirty="0">
                <a:solidFill>
                  <a:srgbClr val="424242"/>
                </a:solidFill>
                <a:latin typeface="Trebuchet MS" panose="020B0603020202020204"/>
                <a:cs typeface="Trebuchet MS" panose="020B0603020202020204"/>
              </a:rPr>
              <a:t>more </a:t>
            </a:r>
            <a:r>
              <a:rPr sz="1050" spc="-40" dirty="0">
                <a:solidFill>
                  <a:srgbClr val="424242"/>
                </a:solidFill>
                <a:latin typeface="Trebuchet MS" panose="020B0603020202020204"/>
                <a:cs typeface="Trebuchet MS" panose="020B0603020202020204"/>
              </a:rPr>
              <a:t> </a:t>
            </a:r>
            <a:r>
              <a:rPr sz="1050" spc="-15" dirty="0">
                <a:solidFill>
                  <a:srgbClr val="424242"/>
                </a:solidFill>
                <a:latin typeface="Trebuchet MS" panose="020B0603020202020204"/>
                <a:cs typeface="Trebuchet MS" panose="020B0603020202020204"/>
              </a:rPr>
              <a:t>sustainable</a:t>
            </a:r>
            <a:r>
              <a:rPr sz="1050" spc="-90" dirty="0">
                <a:solidFill>
                  <a:srgbClr val="424242"/>
                </a:solidFill>
                <a:latin typeface="Trebuchet MS" panose="020B0603020202020204"/>
                <a:cs typeface="Trebuchet MS" panose="020B0603020202020204"/>
              </a:rPr>
              <a:t> </a:t>
            </a:r>
            <a:r>
              <a:rPr sz="1050" spc="-70" dirty="0">
                <a:solidFill>
                  <a:srgbClr val="424242"/>
                </a:solidFill>
                <a:latin typeface="Trebuchet MS" panose="020B0603020202020204"/>
                <a:cs typeface="Trebuchet MS" panose="020B0603020202020204"/>
              </a:rPr>
              <a:t>world.</a:t>
            </a:r>
            <a:endParaRPr sz="1050">
              <a:latin typeface="Trebuchet MS" panose="020B0603020202020204"/>
              <a:cs typeface="Trebuchet MS" panose="020B0603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38430" y="906208"/>
            <a:ext cx="1082675" cy="379730"/>
          </a:xfrm>
          <a:prstGeom prst="rect">
            <a:avLst/>
          </a:prstGeom>
        </p:spPr>
        <p:txBody>
          <a:bodyPr vert="horz" wrap="square" lIns="0" tIns="15240" rIns="0" bIns="0" rtlCol="0">
            <a:spAutoFit/>
          </a:bodyPr>
          <a:lstStyle/>
          <a:p>
            <a:pPr marL="12700">
              <a:lnSpc>
                <a:spcPct val="100000"/>
              </a:lnSpc>
              <a:spcBef>
                <a:spcPts val="120"/>
              </a:spcBef>
            </a:pPr>
            <a:r>
              <a:rPr sz="2300" b="1" spc="-50" dirty="0">
                <a:solidFill>
                  <a:srgbClr val="424242"/>
                </a:solidFill>
                <a:latin typeface="Arial" panose="020B0604020202020204"/>
                <a:cs typeface="Arial" panose="020B0604020202020204"/>
              </a:rPr>
              <a:t>T</a:t>
            </a:r>
            <a:r>
              <a:rPr sz="2300" b="1" spc="-35" dirty="0">
                <a:solidFill>
                  <a:srgbClr val="424242"/>
                </a:solidFill>
                <a:latin typeface="Arial" panose="020B0604020202020204"/>
                <a:cs typeface="Arial" panose="020B0604020202020204"/>
              </a:rPr>
              <a:t>h</a:t>
            </a:r>
            <a:r>
              <a:rPr sz="2300" b="1" spc="140" dirty="0">
                <a:solidFill>
                  <a:srgbClr val="424242"/>
                </a:solidFill>
                <a:latin typeface="Arial" panose="020B0604020202020204"/>
                <a:cs typeface="Arial" panose="020B0604020202020204"/>
              </a:rPr>
              <a:t>a</a:t>
            </a:r>
            <a:r>
              <a:rPr sz="2300" b="1" spc="-35" dirty="0">
                <a:solidFill>
                  <a:srgbClr val="424242"/>
                </a:solidFill>
                <a:latin typeface="Arial" panose="020B0604020202020204"/>
                <a:cs typeface="Arial" panose="020B0604020202020204"/>
              </a:rPr>
              <a:t>n</a:t>
            </a:r>
            <a:r>
              <a:rPr sz="2300" b="1" spc="-20" dirty="0">
                <a:solidFill>
                  <a:srgbClr val="424242"/>
                </a:solidFill>
                <a:latin typeface="Arial" panose="020B0604020202020204"/>
                <a:cs typeface="Arial" panose="020B0604020202020204"/>
              </a:rPr>
              <a:t>k</a:t>
            </a:r>
            <a:r>
              <a:rPr sz="2300" b="1" spc="-245" dirty="0">
                <a:solidFill>
                  <a:srgbClr val="424242"/>
                </a:solidFill>
                <a:latin typeface="Arial" panose="020B0604020202020204"/>
                <a:cs typeface="Arial" panose="020B0604020202020204"/>
              </a:rPr>
              <a:t>s</a:t>
            </a:r>
            <a:r>
              <a:rPr sz="2300" b="1" spc="-300" dirty="0">
                <a:solidFill>
                  <a:srgbClr val="424242"/>
                </a:solidFill>
                <a:latin typeface="Arial" panose="020B0604020202020204"/>
                <a:cs typeface="Arial" panose="020B0604020202020204"/>
              </a:rPr>
              <a:t>!</a:t>
            </a:r>
            <a:endParaRPr sz="2300">
              <a:latin typeface="Arial" panose="020B0604020202020204"/>
              <a:cs typeface="Arial" panose="020B0604020202020204"/>
            </a:endParaRPr>
          </a:p>
        </p:txBody>
      </p:sp>
      <p:sp>
        <p:nvSpPr>
          <p:cNvPr id="3" name="object 3"/>
          <p:cNvSpPr txBox="1"/>
          <p:nvPr/>
        </p:nvSpPr>
        <p:spPr>
          <a:xfrm>
            <a:off x="2343150" y="1542415"/>
            <a:ext cx="2327275" cy="636270"/>
          </a:xfrm>
          <a:prstGeom prst="rect">
            <a:avLst/>
          </a:prstGeom>
        </p:spPr>
        <p:txBody>
          <a:bodyPr vert="horz" wrap="square" lIns="0" tIns="12700" rIns="0" bIns="0" rtlCol="0">
            <a:spAutoFit/>
          </a:bodyPr>
          <a:lstStyle/>
          <a:p>
            <a:pPr marL="12700" marR="5080" algn="ctr">
              <a:lnSpc>
                <a:spcPct val="113000"/>
              </a:lnSpc>
              <a:spcBef>
                <a:spcPts val="100"/>
              </a:spcBef>
            </a:pPr>
            <a:r>
              <a:rPr sz="1200" spc="25" dirty="0">
                <a:solidFill>
                  <a:srgbClr val="B65341"/>
                </a:solidFill>
                <a:latin typeface="Trebuchet MS" panose="020B0603020202020204"/>
                <a:cs typeface="Trebuchet MS" panose="020B0603020202020204"/>
              </a:rPr>
              <a:t>D</a:t>
            </a:r>
            <a:r>
              <a:rPr sz="1200" spc="-10" dirty="0">
                <a:solidFill>
                  <a:srgbClr val="B65341"/>
                </a:solidFill>
                <a:latin typeface="Trebuchet MS" panose="020B0603020202020204"/>
                <a:cs typeface="Trebuchet MS" panose="020B0603020202020204"/>
              </a:rPr>
              <a:t>o</a:t>
            </a:r>
            <a:r>
              <a:rPr sz="1200" spc="-95" dirty="0">
                <a:solidFill>
                  <a:srgbClr val="B65341"/>
                </a:solidFill>
                <a:latin typeface="Trebuchet MS" panose="020B0603020202020204"/>
                <a:cs typeface="Trebuchet MS" panose="020B0603020202020204"/>
              </a:rPr>
              <a:t> </a:t>
            </a:r>
            <a:r>
              <a:rPr sz="1200" spc="-60" dirty="0">
                <a:solidFill>
                  <a:srgbClr val="B65341"/>
                </a:solidFill>
                <a:latin typeface="Trebuchet MS" panose="020B0603020202020204"/>
                <a:cs typeface="Trebuchet MS" panose="020B0603020202020204"/>
              </a:rPr>
              <a:t>y</a:t>
            </a:r>
            <a:r>
              <a:rPr sz="1200" spc="-15" dirty="0">
                <a:solidFill>
                  <a:srgbClr val="B65341"/>
                </a:solidFill>
                <a:latin typeface="Trebuchet MS" panose="020B0603020202020204"/>
                <a:cs typeface="Trebuchet MS" panose="020B0603020202020204"/>
              </a:rPr>
              <a:t>ou</a:t>
            </a:r>
            <a:r>
              <a:rPr sz="1200" spc="-95" dirty="0">
                <a:solidFill>
                  <a:srgbClr val="B65341"/>
                </a:solidFill>
                <a:latin typeface="Trebuchet MS" panose="020B0603020202020204"/>
                <a:cs typeface="Trebuchet MS" panose="020B0603020202020204"/>
              </a:rPr>
              <a:t> </a:t>
            </a:r>
            <a:r>
              <a:rPr sz="1200" spc="-25" dirty="0">
                <a:solidFill>
                  <a:srgbClr val="B65341"/>
                </a:solidFill>
                <a:latin typeface="Trebuchet MS" panose="020B0603020202020204"/>
                <a:cs typeface="Trebuchet MS" panose="020B0603020202020204"/>
              </a:rPr>
              <a:t>h</a:t>
            </a:r>
            <a:r>
              <a:rPr sz="1200" spc="35" dirty="0">
                <a:solidFill>
                  <a:srgbClr val="B65341"/>
                </a:solidFill>
                <a:latin typeface="Trebuchet MS" panose="020B0603020202020204"/>
                <a:cs typeface="Trebuchet MS" panose="020B0603020202020204"/>
              </a:rPr>
              <a:t>a</a:t>
            </a:r>
            <a:r>
              <a:rPr sz="1200" spc="-70" dirty="0">
                <a:solidFill>
                  <a:srgbClr val="B65341"/>
                </a:solidFill>
                <a:latin typeface="Trebuchet MS" panose="020B0603020202020204"/>
                <a:cs typeface="Trebuchet MS" panose="020B0603020202020204"/>
              </a:rPr>
              <a:t>v</a:t>
            </a:r>
            <a:r>
              <a:rPr sz="1200" spc="-30" dirty="0">
                <a:solidFill>
                  <a:srgbClr val="B65341"/>
                </a:solidFill>
                <a:latin typeface="Trebuchet MS" panose="020B0603020202020204"/>
                <a:cs typeface="Trebuchet MS" panose="020B0603020202020204"/>
              </a:rPr>
              <a:t>e</a:t>
            </a:r>
            <a:r>
              <a:rPr sz="1200" spc="-95" dirty="0">
                <a:solidFill>
                  <a:srgbClr val="B65341"/>
                </a:solidFill>
                <a:latin typeface="Trebuchet MS" panose="020B0603020202020204"/>
                <a:cs typeface="Trebuchet MS" panose="020B0603020202020204"/>
              </a:rPr>
              <a:t> </a:t>
            </a:r>
            <a:r>
              <a:rPr sz="1200" spc="35" dirty="0">
                <a:solidFill>
                  <a:srgbClr val="B65341"/>
                </a:solidFill>
                <a:latin typeface="Trebuchet MS" panose="020B0603020202020204"/>
                <a:cs typeface="Trebuchet MS" panose="020B0603020202020204"/>
              </a:rPr>
              <a:t>a</a:t>
            </a:r>
            <a:r>
              <a:rPr sz="1200" spc="-20" dirty="0">
                <a:solidFill>
                  <a:srgbClr val="B65341"/>
                </a:solidFill>
                <a:latin typeface="Trebuchet MS" panose="020B0603020202020204"/>
                <a:cs typeface="Trebuchet MS" panose="020B0603020202020204"/>
              </a:rPr>
              <a:t>n</a:t>
            </a:r>
            <a:r>
              <a:rPr sz="1200" spc="-55" dirty="0">
                <a:solidFill>
                  <a:srgbClr val="B65341"/>
                </a:solidFill>
                <a:latin typeface="Trebuchet MS" panose="020B0603020202020204"/>
                <a:cs typeface="Trebuchet MS" panose="020B0603020202020204"/>
              </a:rPr>
              <a:t>y</a:t>
            </a:r>
            <a:r>
              <a:rPr sz="1200" spc="-95" dirty="0">
                <a:solidFill>
                  <a:srgbClr val="B65341"/>
                </a:solidFill>
                <a:latin typeface="Trebuchet MS" panose="020B0603020202020204"/>
                <a:cs typeface="Trebuchet MS" panose="020B0603020202020204"/>
              </a:rPr>
              <a:t> </a:t>
            </a:r>
            <a:r>
              <a:rPr sz="1200" spc="-5" dirty="0">
                <a:solidFill>
                  <a:srgbClr val="B65341"/>
                </a:solidFill>
                <a:latin typeface="Trebuchet MS" panose="020B0603020202020204"/>
                <a:cs typeface="Trebuchet MS" panose="020B0603020202020204"/>
              </a:rPr>
              <a:t>q</a:t>
            </a:r>
            <a:r>
              <a:rPr sz="1200" spc="-20" dirty="0">
                <a:solidFill>
                  <a:srgbClr val="B65341"/>
                </a:solidFill>
                <a:latin typeface="Trebuchet MS" panose="020B0603020202020204"/>
                <a:cs typeface="Trebuchet MS" panose="020B0603020202020204"/>
              </a:rPr>
              <a:t>u</a:t>
            </a:r>
            <a:r>
              <a:rPr sz="1200" spc="-35" dirty="0">
                <a:solidFill>
                  <a:srgbClr val="B65341"/>
                </a:solidFill>
                <a:latin typeface="Trebuchet MS" panose="020B0603020202020204"/>
                <a:cs typeface="Trebuchet MS" panose="020B0603020202020204"/>
              </a:rPr>
              <a:t>e</a:t>
            </a:r>
            <a:r>
              <a:rPr sz="1200" spc="65" dirty="0">
                <a:solidFill>
                  <a:srgbClr val="B65341"/>
                </a:solidFill>
                <a:latin typeface="Trebuchet MS" panose="020B0603020202020204"/>
                <a:cs typeface="Trebuchet MS" panose="020B0603020202020204"/>
              </a:rPr>
              <a:t>s</a:t>
            </a:r>
            <a:r>
              <a:rPr sz="1200" spc="-155" dirty="0">
                <a:solidFill>
                  <a:srgbClr val="B65341"/>
                </a:solidFill>
                <a:latin typeface="Trebuchet MS" panose="020B0603020202020204"/>
                <a:cs typeface="Trebuchet MS" panose="020B0603020202020204"/>
              </a:rPr>
              <a:t>t</a:t>
            </a:r>
            <a:r>
              <a:rPr sz="1200" spc="-30" dirty="0">
                <a:solidFill>
                  <a:srgbClr val="B65341"/>
                </a:solidFill>
                <a:latin typeface="Trebuchet MS" panose="020B0603020202020204"/>
                <a:cs typeface="Trebuchet MS" panose="020B0603020202020204"/>
              </a:rPr>
              <a:t>i</a:t>
            </a:r>
            <a:r>
              <a:rPr sz="1200" spc="-15" dirty="0">
                <a:solidFill>
                  <a:srgbClr val="B65341"/>
                </a:solidFill>
                <a:latin typeface="Trebuchet MS" panose="020B0603020202020204"/>
                <a:cs typeface="Trebuchet MS" panose="020B0603020202020204"/>
              </a:rPr>
              <a:t>o</a:t>
            </a:r>
            <a:r>
              <a:rPr sz="1200" spc="-20" dirty="0">
                <a:solidFill>
                  <a:srgbClr val="B65341"/>
                </a:solidFill>
                <a:latin typeface="Trebuchet MS" panose="020B0603020202020204"/>
                <a:cs typeface="Trebuchet MS" panose="020B0603020202020204"/>
              </a:rPr>
              <a:t>n</a:t>
            </a:r>
            <a:r>
              <a:rPr sz="1200" spc="65" dirty="0">
                <a:solidFill>
                  <a:srgbClr val="B65341"/>
                </a:solidFill>
                <a:latin typeface="Trebuchet MS" panose="020B0603020202020204"/>
                <a:cs typeface="Trebuchet MS" panose="020B0603020202020204"/>
              </a:rPr>
              <a:t>s</a:t>
            </a:r>
            <a:r>
              <a:rPr sz="1200" spc="95" dirty="0">
                <a:solidFill>
                  <a:srgbClr val="B65341"/>
                </a:solidFill>
                <a:latin typeface="Trebuchet MS" panose="020B0603020202020204"/>
                <a:cs typeface="Trebuchet MS" panose="020B0603020202020204"/>
              </a:rPr>
              <a:t>?  </a:t>
            </a:r>
            <a:endParaRPr lang="en-US" sz="1200" spc="-55" dirty="0">
              <a:solidFill>
                <a:srgbClr val="B65341"/>
              </a:solidFill>
              <a:latin typeface="Trebuchet MS" panose="020B0603020202020204"/>
              <a:cs typeface="Trebuchet MS" panose="020B0603020202020204"/>
            </a:endParaRPr>
          </a:p>
          <a:p>
            <a:pPr algn="ctr">
              <a:lnSpc>
                <a:spcPct val="100000"/>
              </a:lnSpc>
              <a:spcBef>
                <a:spcPts val="180"/>
              </a:spcBef>
            </a:pPr>
            <a:r>
              <a:rPr lang="en-IN" sz="1200" dirty="0">
                <a:latin typeface="Trebuchet MS" panose="020B0603020202020204"/>
                <a:cs typeface="Trebuchet MS" panose="020B0603020202020204"/>
              </a:rPr>
              <a:t>gowthamchandran.j@gmail.com</a:t>
            </a:r>
            <a:endParaRPr lang="en-IN" sz="1200" dirty="0">
              <a:latin typeface="Trebuchet MS" panose="020B0603020202020204"/>
              <a:cs typeface="Trebuchet MS" panose="020B0603020202020204"/>
            </a:endParaRPr>
          </a:p>
          <a:p>
            <a:pPr algn="ctr">
              <a:lnSpc>
                <a:spcPct val="100000"/>
              </a:lnSpc>
              <a:spcBef>
                <a:spcPts val="180"/>
              </a:spcBef>
            </a:pPr>
            <a:r>
              <a:rPr lang="en-IN" sz="1200" dirty="0">
                <a:latin typeface="Trebuchet MS" panose="020B0603020202020204"/>
                <a:cs typeface="Trebuchet MS" panose="020B0603020202020204"/>
              </a:rPr>
              <a:t>9566314162</a:t>
            </a:r>
            <a:endParaRPr lang="en-IN" sz="1200" dirty="0">
              <a:latin typeface="Trebuchet MS" panose="020B0603020202020204"/>
              <a:cs typeface="Trebuchet MS" panose="020B0603020202020204"/>
            </a:endParaRPr>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2445615" y="2664855"/>
              <a:ext cx="832320" cy="101520"/>
            </p14:xfrm>
          </p:contentPart>
        </mc:Choice>
        <mc:Fallback xmlns="">
          <p:pic>
            <p:nvPicPr>
              <p:cNvPr id="4" name="Ink 3"/>
            </p:nvPicPr>
            <p:blipFill>
              <a:blip r:embed="rId2"/>
            </p:blipFill>
            <p:spPr>
              <a:xfrm>
                <a:off x="2445615" y="2664855"/>
                <a:ext cx="832320" cy="1015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3163455" y="2719935"/>
              <a:ext cx="2520" cy="360"/>
            </p14:xfrm>
          </p:contentPart>
        </mc:Choice>
        <mc:Fallback xmlns="">
          <p:pic>
            <p:nvPicPr>
              <p:cNvPr id="5" name="Ink 4"/>
            </p:nvPicPr>
            <p:blipFill>
              <a:blip r:embed="rId4"/>
            </p:blipFill>
            <p:spPr>
              <a:xfrm>
                <a:off x="3163455" y="2719935"/>
                <a:ext cx="252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Ink 5"/>
              <p14:cNvContentPartPr/>
              <p14:nvPr/>
            </p14:nvContentPartPr>
            <p14:xfrm>
              <a:off x="3019815" y="2782215"/>
              <a:ext cx="459720" cy="81720"/>
            </p14:xfrm>
          </p:contentPart>
        </mc:Choice>
        <mc:Fallback xmlns="">
          <p:pic>
            <p:nvPicPr>
              <p:cNvPr id="6" name="Ink 5"/>
            </p:nvPicPr>
            <p:blipFill>
              <a:blip r:embed="rId6"/>
            </p:blipFill>
            <p:spPr>
              <a:xfrm>
                <a:off x="3019815" y="2782215"/>
                <a:ext cx="459720" cy="8172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Ink 6"/>
              <p14:cNvContentPartPr/>
              <p14:nvPr/>
            </p14:nvContentPartPr>
            <p14:xfrm>
              <a:off x="3240495" y="1016415"/>
              <a:ext cx="706680" cy="75600"/>
            </p14:xfrm>
          </p:contentPart>
        </mc:Choice>
        <mc:Fallback xmlns="">
          <p:pic>
            <p:nvPicPr>
              <p:cNvPr id="7" name="Ink 6"/>
            </p:nvPicPr>
            <p:blipFill>
              <a:blip r:embed="rId8"/>
            </p:blipFill>
            <p:spPr>
              <a:xfrm>
                <a:off x="3240495" y="1016415"/>
                <a:ext cx="706680" cy="756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Ink 7"/>
              <p14:cNvContentPartPr/>
              <p14:nvPr/>
            </p14:nvContentPartPr>
            <p14:xfrm>
              <a:off x="2621655" y="2816775"/>
              <a:ext cx="251640" cy="63360"/>
            </p14:xfrm>
          </p:contentPart>
        </mc:Choice>
        <mc:Fallback xmlns="">
          <p:pic>
            <p:nvPicPr>
              <p:cNvPr id="8" name="Ink 7"/>
            </p:nvPicPr>
            <p:blipFill>
              <a:blip r:embed="rId10"/>
            </p:blipFill>
            <p:spPr>
              <a:xfrm>
                <a:off x="2621655" y="2816775"/>
                <a:ext cx="251640" cy="63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Ink 8"/>
              <p14:cNvContentPartPr/>
              <p14:nvPr/>
            </p14:nvContentPartPr>
            <p14:xfrm>
              <a:off x="2627055" y="2788695"/>
              <a:ext cx="212040" cy="6480"/>
            </p14:xfrm>
          </p:contentPart>
        </mc:Choice>
        <mc:Fallback xmlns="">
          <p:pic>
            <p:nvPicPr>
              <p:cNvPr id="9" name="Ink 8"/>
            </p:nvPicPr>
            <p:blipFill>
              <a:blip r:embed="rId12"/>
            </p:blipFill>
            <p:spPr>
              <a:xfrm>
                <a:off x="2627055" y="2788695"/>
                <a:ext cx="212040" cy="64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Ink 9"/>
              <p14:cNvContentPartPr/>
              <p14:nvPr/>
            </p14:nvContentPartPr>
            <p14:xfrm>
              <a:off x="2187855" y="2604375"/>
              <a:ext cx="3439800" cy="400320"/>
            </p14:xfrm>
          </p:contentPart>
        </mc:Choice>
        <mc:Fallback xmlns="">
          <p:pic>
            <p:nvPicPr>
              <p:cNvPr id="10" name="Ink 9"/>
            </p:nvPicPr>
            <p:blipFill>
              <a:blip r:embed="rId14"/>
            </p:blipFill>
            <p:spPr>
              <a:xfrm>
                <a:off x="2187855" y="2604375"/>
                <a:ext cx="3439800" cy="400320"/>
              </a:xfrm>
              <a:prstGeom prst="rect"/>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6534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8706</Words>
  <Application>WPS Presentation</Application>
  <PresentationFormat>Custom</PresentationFormat>
  <Paragraphs>151</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Trebuchet MS</vt:lpstr>
      <vt:lpstr>Bell MT</vt:lpstr>
      <vt:lpstr>Vermin Vibes V</vt:lpstr>
      <vt:lpstr>Arial</vt:lpstr>
      <vt:lpstr>Söhne</vt:lpstr>
      <vt:lpstr>Microsoft YaHei</vt:lpstr>
      <vt:lpstr>Arial Unicode MS</vt:lpstr>
      <vt:lpstr>Calibri</vt:lpstr>
      <vt:lpstr>Times New Roman</vt:lpstr>
      <vt:lpstr>Office Theme</vt:lpstr>
      <vt:lpstr>PowerPoint 演示文稿</vt:lpstr>
      <vt:lpstr>PROJECT DEFINITION</vt:lpstr>
      <vt:lpstr>OBJECTIVES</vt:lpstr>
      <vt:lpstr>IOT DESIGN </vt:lpstr>
      <vt:lpstr>Real-Time Transit Information Platform </vt:lpstr>
      <vt:lpstr>INTEGRATION APPROACH</vt:lpstr>
      <vt:lpstr>INTEGRATION APPROACH</vt:lpstr>
      <vt:lpstr>INTEGRATION BENEFITS</vt:lpstr>
      <vt:lpstr>INTEGRATION BENEFITS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gowth</cp:lastModifiedBy>
  <cp:revision>17</cp:revision>
  <dcterms:created xsi:type="dcterms:W3CDTF">2023-09-29T12:55:00Z</dcterms:created>
  <dcterms:modified xsi:type="dcterms:W3CDTF">2023-09-30T01:58:12Z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6943E96ED88042C1A4F60EFC490D8F7B_12</vt:lpwstr>
  </property>
  <property fmtid="{D5CDD505-2E9C-101B-9397-08002B2CF9AE}" pid="3" name="KSOProductBuildVer">
    <vt:lpwstr>1033-12.2.0.13215</vt:lpwstr>
  </property>
</Properties>
</file>